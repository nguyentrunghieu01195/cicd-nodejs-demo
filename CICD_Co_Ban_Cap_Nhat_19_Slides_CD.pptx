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Xin chào mọi người. Hôm nay mình chia sẻ về CI/CD, một phương pháp giúp tự động kiểm tra và phát hành phần mềm. Có bao giờ code chạy tốt trên máy local nhưng lên server lại lỗi? Bài hôm nay sẽ giúp chúng ta hiểu cách giảm những tình huống đó.</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Hãy tưởng tượng team có năm developer, mỗi người phát triển một tính năng. Khi gộp code, mọi người phải tự kiểm tra rồi triển khai thủ công. Chỉ cần quên chạy một bước hoặc dùng phiên bản Node khác nhau, hệ thống có thể lỗi. Khi team lớn lên, quy trình này càng khó kiểm soát.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CI/CD không chỉ giúp deploy nhanh. Giá trị quan trọng nhất là nhận phản hồi sớm và có quy trình nhất quán. Mọi thay đổi đều trải qua các bước kiểm tra giống nhau. Tuy nhiên pipeline xanh không đồng nghĩa phần mềm hoàn toàn không có lỗi, vì những gì chưa được kiểm thử vẫn có thể lọt qua.</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CI là thực hành tích hợp thay đổi thường xuyên, được hỗ trợ bằng kiểm thử tự động. Continuous Delivery giữ phần mềm ở trạng thái sẵn sàng phát hành, còn Continuous Deployment tự đưa bản mới lên production khi đạt điều kiện. Chúng ta sẽ đi lần lượt từng khái niệm.</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Developer hoàn thành tính năng và mở pull request. GitHub Actions tự tải code, cài dependencies, chạy test và build. Nếu một bước thất bại, hệ thống hiển thị log để developer sửa. Nhờ vậy, lỗi được phát hiện ngay sau thay đổi, thay vì đến lúc deploy.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Sau CI, chúng ta cần đưa ứng dụng đến người dùng. Continuous Delivery tự động hóa các bước chuẩn bị phát hành. Ví dụ pipeline tạo Docker image và kiểm tra staging, sau đó trưởng nhóm chọn thời điểm phát hành. Việc phê duyệt không bắt buộc trong mọi hệ thống, nhưng phần mềm phải luôn ở trạng thái có thể release.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Continuous Deployment đi xa hơn Delivery. Khi mọi kiểm tra đạt, bản mới tự được triển khai đến production. Ưu điểm là phản hồi nhanh, nhưng phải có khả năng quan sát hệ thống và khôi phục khi lỗi. Không phải dự án nào cũng cần bắt đầu bằng tự động deploy hoàn toàn.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Có thể ghi nhớ bằng ba câu: CI giúp kiểm tra code; Delivery giúp chuẩn bị release; Deployment tự động đưa release đến người dùng. Ba khái niệm liên quan nhưng không đồng nghĩa. Tùy rủi ro kinh doanh, team có thể chọn mức độ tự động hóa phù hợp.</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Pipeline là chuỗi công việc có thể chạy tuần tự hoặc song song theo điều kiện. Với dự án nhỏ, chỉ cần install, test, build đã hữu ích. Khi dự án lớn hơn, bổ sung scan bảo mật, đóng gói, staging, deploy và theo dõi. Quan trọng là quy trình dễ hiểu và dễ bảo trì.</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Các công cụ này đều cho phép khai báo công việc tự động. Nếu source code nằm trên GitHub, GitHub Actions thường là lựa chọn dễ bắt đầu. GitLab CI/CD phù hợp với hệ sinh thái GitLab; Jenkins có nhiều tùy biến nhưng cần vận hành hạ tầng. Công cụ chỉ là phương tiện, quy trình mới là điều cốt lõi.</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Giả sử ứng dụng bán hàng có chức năng giảm giá. Đơn hàng hai triệu, giảm mười phần trăm, kết quả phải là một triệu tám. Nếu developer vô tình đổi dấu trừ thành dấu cộng, kết quả trở thành hai triệu hai. Đây là lỗi nghiệp vụ đơn giản nhưng có thể ảnh hưởng trực tiếp khách hàng.</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Unit test mô tả hành vi chúng ta mong đợi. Khi chạy npm test, Jest so sánh kết quả thực tế với một triệu tám. Nếu công thức sai, test báo đỏ. Chúng ta không cần mở giao diện và nhập dữ liệu thủ công mỗi lần sửa code. Đây là một ví dụ rõ ràng về tự động hóa kiểm tra.</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Workflow được đặt trong thư mục .github/workflows. Phần on xác định khi nào chạy; jobs định nghĩa công việc; runs-on chọn môi trường; steps là các lệnh. npm ci sử dụng lockfile để cài đặt nhất quán. Nếu test lỗi, job dừng theo mặc định và báo trạng thái thất bại.</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Trong demo, đầu tiên chúng ta cố ý để công thức sai. Push code, mở tab Actions, thấy test fail và xem log. Tiếp đó sửa dấu cộng thành dấu trừ, commit và push lại. Pipeline chạy lại và chuyển xanh. Nếu repository cấu hình required checks, PR lỗi có thể bị chặn merge. Đây là giá trị thực tế nhất của CI.</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Để kết thúc, mình muốn nhấn mạnh: không cần làm pipeline phức tạp ngay. Bắt đầu với tự động test và build, sau đó mở rộng đến đóng gói và deploy. Hãy bảo vệ secrets, theo dõi hệ thống và có phương án rollback. CI/CD không phải trách nhiệm riêng DevOps; developer cũng nên hiểu và biết đọc log. Cảm ơn mọi người, mình xin nhận câu hỏi.</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Các action có sẵn trên GitHub Marketplace và trong repository của nhà phát triển. Ví dụ actions/checkout lấy source, actions/setup-node chuẩn bị Node.js. Khi lựa chọn, cần xem README, phiên bản, mức độ tin cậy và quyền truy cập. Action của bên thứ ba chạy code trong workflow nên có rủi ro supply chain. Ở production nên pin bằng full commit SHA, và chỉ cấp quyền token tối thiểu.</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Một workflow là tệp YAML chứa một hoặc nhiều job. Mỗi job chạy trên runner và gồm nhiều step. uses dùng lại action, ví dụ actions/checkout; run thực thi lệnh như npm test; with cấu hình input cho action. Đây là những khái niệm cơ bản để đọc bất kỳ workflow GitHub Actions nào.</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Test chỉ là một trong các lớp kiểm tra. ESLint phát hiện nhiều lỗi và vấn đề coding convention. Prettier kiểm tra code có tuân theo format chung. Với TypeScript, tsc --noEmit kiểm tra kiểu mà không xuất file. Jest xác minh hành vi. Build giúp bắt lỗi khi đóng gói. npm audit có thể bổ sung nhưng cần chính sách xử lý cảnh báo phù hợp. Dự án JavaScript thuần có thể bỏ type checking hoặc dùng checkJs nếu cấu hình.</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Ở dự án thực tế, ta tạo scripts tương ứng trong package.json và đưa chúng vào workflow. Ví dụ npm run lint kiểm tra chất lượng code; npm run format:check dùng prettier --check .; npm run typecheck chạy tsc --noEmit nếu là TypeScript. npm test chạy Jest, sau đó npm run build. Nếu một bước lỗi, job mặc định dừng và báo đỏ. Có thể chạy song song một số job để tiết kiệm thời gian khi pipeline lớn.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D182D"/>
        </a:solidFill>
        <a:effectLst/>
      </p:bgPr>
    </p:bg>
    <p:spTree>
      <p:nvGrpSpPr>
        <p:cNvPr id="1" name=""/>
        <p:cNvGrpSpPr/>
        <p:nvPr/>
      </p:nvGrpSpPr>
      <p:grpSpPr/>
      <p:sp>
        <p:nvSpPr>
          <p:cNvPr id="2" name="TextBox 1"/>
          <p:cNvSpPr txBox="1"/>
          <p:nvPr/>
        </p:nvSpPr>
        <p:spPr>
          <a:xfrm>
            <a:off x="640080" y="411480"/>
            <a:ext cx="10789920" cy="640080"/>
          </a:xfrm>
          <a:prstGeom prst="rect">
            <a:avLst/>
          </a:prstGeom>
          <a:noFill/>
        </p:spPr>
        <p:txBody>
          <a:bodyPr wrap="square">
            <a:spAutoFit/>
          </a:bodyPr>
          <a:lstStyle/>
          <a:p>
            <a:pPr>
              <a:spcAft>
                <a:spcPts val="1200"/>
              </a:spcAft>
              <a:defRPr sz="3100" b="1">
                <a:solidFill>
                  <a:srgbClr val="F2F6FC"/>
                </a:solidFill>
                <a:latin typeface="Aptos"/>
              </a:defRPr>
            </a:pPr>
            <a:r>
              <a:t>CI/CD CƠ BẢN</a:t>
            </a:r>
          </a:p>
        </p:txBody>
      </p:sp>
      <p:sp>
        <p:nvSpPr>
          <p:cNvPr id="3" name="Rectangle 2"/>
          <p:cNvSpPr/>
          <p:nvPr/>
        </p:nvSpPr>
        <p:spPr>
          <a:xfrm>
            <a:off x="640080" y="1261872"/>
            <a:ext cx="1280160" cy="54864"/>
          </a:xfrm>
          <a:prstGeom prst="rect">
            <a:avLst/>
          </a:prstGeom>
          <a:solidFill>
            <a:srgbClr val="24D3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691640"/>
            <a:ext cx="10698480" cy="4389120"/>
          </a:xfrm>
          <a:prstGeom prst="rect">
            <a:avLst/>
          </a:prstGeom>
          <a:noFill/>
        </p:spPr>
        <p:txBody>
          <a:bodyPr wrap="square">
            <a:spAutoFit/>
          </a:bodyPr>
          <a:lstStyle/>
          <a:p>
            <a:pPr>
              <a:spcAft>
                <a:spcPts val="1200"/>
              </a:spcAft>
              <a:defRPr sz="2400" b="0">
                <a:solidFill>
                  <a:srgbClr val="F2F6FC"/>
                </a:solidFill>
                <a:latin typeface="Aptos"/>
              </a:defRPr>
            </a:pPr>
            <a:r>
              <a:t>Từ Code đến Production</a:t>
            </a:r>
          </a:p>
        </p:txBody>
      </p:sp>
      <p:sp>
        <p:nvSpPr>
          <p:cNvPr id="5" name="TextBox 4"/>
          <p:cNvSpPr txBox="1"/>
          <p:nvPr/>
        </p:nvSpPr>
        <p:spPr>
          <a:xfrm>
            <a:off x="731520" y="6428232"/>
            <a:ext cx="10058400" cy="274320"/>
          </a:xfrm>
          <a:prstGeom prst="rect">
            <a:avLst/>
          </a:prstGeom>
          <a:noFill/>
        </p:spPr>
        <p:txBody>
          <a:bodyPr wrap="square">
            <a:spAutoFit/>
          </a:bodyPr>
          <a:lstStyle/>
          <a:p>
            <a:pPr>
              <a:spcAft>
                <a:spcPts val="1200"/>
              </a:spcAft>
              <a:defRPr sz="1000" b="0">
                <a:solidFill>
                  <a:srgbClr val="B6C2D4"/>
                </a:solidFill>
                <a:latin typeface="Aptos"/>
              </a:defRPr>
            </a:pPr>
            <a:r>
              <a:t>CI/CD CƠ BẢN  •  NODE.JS + GITHUB ACTIONS</a:t>
            </a:r>
          </a:p>
        </p:txBody>
      </p:sp>
      <p:sp>
        <p:nvSpPr>
          <p:cNvPr id="6" name="TextBox 5"/>
          <p:cNvSpPr txBox="1"/>
          <p:nvPr/>
        </p:nvSpPr>
        <p:spPr>
          <a:xfrm>
            <a:off x="11064240" y="6419088"/>
            <a:ext cx="457200" cy="274320"/>
          </a:xfrm>
          <a:prstGeom prst="rect">
            <a:avLst/>
          </a:prstGeom>
          <a:noFill/>
        </p:spPr>
        <p:txBody>
          <a:bodyPr wrap="square">
            <a:spAutoFit/>
          </a:bodyPr>
          <a:lstStyle/>
          <a:p>
            <a:pPr>
              <a:spcAft>
                <a:spcPts val="1200"/>
              </a:spcAft>
              <a:defRPr sz="1000" b="0">
                <a:solidFill>
                  <a:srgbClr val="24D3B1"/>
                </a:solidFill>
                <a:latin typeface="Aptos"/>
              </a:defRPr>
            </a:pPr>
            <a: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D182D"/>
        </a:solidFill>
        <a:effectLst/>
      </p:bgPr>
    </p:bg>
    <p:spTree>
      <p:nvGrpSpPr>
        <p:cNvPr id="1" name=""/>
        <p:cNvGrpSpPr/>
        <p:nvPr/>
      </p:nvGrpSpPr>
      <p:grpSpPr/>
      <p:sp>
        <p:nvSpPr>
          <p:cNvPr id="2" name="TextBox 1"/>
          <p:cNvSpPr txBox="1"/>
          <p:nvPr/>
        </p:nvSpPr>
        <p:spPr>
          <a:xfrm>
            <a:off x="640080" y="411480"/>
            <a:ext cx="10789920" cy="640080"/>
          </a:xfrm>
          <a:prstGeom prst="rect">
            <a:avLst/>
          </a:prstGeom>
          <a:noFill/>
        </p:spPr>
        <p:txBody>
          <a:bodyPr wrap="square">
            <a:spAutoFit/>
          </a:bodyPr>
          <a:lstStyle/>
          <a:p>
            <a:pPr>
              <a:spcAft>
                <a:spcPts val="1200"/>
              </a:spcAft>
              <a:defRPr sz="3100" b="1">
                <a:solidFill>
                  <a:srgbClr val="F2F6FC"/>
                </a:solidFill>
                <a:latin typeface="Aptos"/>
              </a:defRPr>
            </a:pPr>
            <a:r>
              <a:t>Quy trình khi chưa có CI/CD</a:t>
            </a:r>
          </a:p>
        </p:txBody>
      </p:sp>
      <p:sp>
        <p:nvSpPr>
          <p:cNvPr id="3" name="Rectangle 2"/>
          <p:cNvSpPr/>
          <p:nvPr/>
        </p:nvSpPr>
        <p:spPr>
          <a:xfrm>
            <a:off x="640080" y="1261872"/>
            <a:ext cx="1280160" cy="54864"/>
          </a:xfrm>
          <a:prstGeom prst="rect">
            <a:avLst/>
          </a:prstGeom>
          <a:solidFill>
            <a:srgbClr val="24D3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691640"/>
            <a:ext cx="10698480" cy="4389120"/>
          </a:xfrm>
          <a:prstGeom prst="rect">
            <a:avLst/>
          </a:prstGeom>
          <a:noFill/>
        </p:spPr>
        <p:txBody>
          <a:bodyPr wrap="square">
            <a:spAutoFit/>
          </a:bodyPr>
          <a:lstStyle/>
          <a:p>
            <a:pPr>
              <a:spcAft>
                <a:spcPts val="1200"/>
              </a:spcAft>
              <a:defRPr sz="2400" b="0">
                <a:solidFill>
                  <a:srgbClr val="F2F6FC"/>
                </a:solidFill>
                <a:latin typeface="Aptos"/>
              </a:defRPr>
            </a:pPr>
            <a:r>
              <a:t>Code → Merge → Test thủ công → Build → Deploy</a:t>
            </a:r>
          </a:p>
          <a:p>
            <a:pPr>
              <a:spcAft>
                <a:spcPts val="1200"/>
              </a:spcAft>
              <a:defRPr sz="2400" b="0">
                <a:solidFill>
                  <a:srgbClr val="F2F6FC"/>
                </a:solidFill>
                <a:latin typeface="Aptos"/>
              </a:defRPr>
            </a:pPr>
            <a:r>
              <a:t>• Phụ thuộc nhiều vào thao tác con người</a:t>
            </a:r>
          </a:p>
          <a:p>
            <a:pPr>
              <a:spcAft>
                <a:spcPts val="1200"/>
              </a:spcAft>
              <a:defRPr sz="2400" b="0">
                <a:solidFill>
                  <a:srgbClr val="F2F6FC"/>
                </a:solidFill>
                <a:latin typeface="Aptos"/>
              </a:defRPr>
            </a:pPr>
            <a:r>
              <a:t>• Dễ quên bước và phát hiện lỗi muộn</a:t>
            </a:r>
          </a:p>
        </p:txBody>
      </p:sp>
      <p:sp>
        <p:nvSpPr>
          <p:cNvPr id="5" name="TextBox 4"/>
          <p:cNvSpPr txBox="1"/>
          <p:nvPr/>
        </p:nvSpPr>
        <p:spPr>
          <a:xfrm>
            <a:off x="731520" y="6428232"/>
            <a:ext cx="10058400" cy="274320"/>
          </a:xfrm>
          <a:prstGeom prst="rect">
            <a:avLst/>
          </a:prstGeom>
          <a:noFill/>
        </p:spPr>
        <p:txBody>
          <a:bodyPr wrap="square">
            <a:spAutoFit/>
          </a:bodyPr>
          <a:lstStyle/>
          <a:p>
            <a:pPr>
              <a:spcAft>
                <a:spcPts val="1200"/>
              </a:spcAft>
              <a:defRPr sz="1000" b="0">
                <a:solidFill>
                  <a:srgbClr val="B6C2D4"/>
                </a:solidFill>
                <a:latin typeface="Aptos"/>
              </a:defRPr>
            </a:pPr>
            <a:r>
              <a:t>CI/CD CƠ BẢN  •  NODE.JS + GITHUB ACTIONS</a:t>
            </a:r>
          </a:p>
        </p:txBody>
      </p:sp>
      <p:sp>
        <p:nvSpPr>
          <p:cNvPr id="6" name="TextBox 5"/>
          <p:cNvSpPr txBox="1"/>
          <p:nvPr/>
        </p:nvSpPr>
        <p:spPr>
          <a:xfrm>
            <a:off x="11064240" y="6419088"/>
            <a:ext cx="457200" cy="274320"/>
          </a:xfrm>
          <a:prstGeom prst="rect">
            <a:avLst/>
          </a:prstGeom>
          <a:noFill/>
        </p:spPr>
        <p:txBody>
          <a:bodyPr wrap="square">
            <a:spAutoFit/>
          </a:bodyPr>
          <a:lstStyle/>
          <a:p>
            <a:pPr>
              <a:spcAft>
                <a:spcPts val="1200"/>
              </a:spcAft>
              <a:defRPr sz="1000" b="0">
                <a:solidFill>
                  <a:srgbClr val="24D3B1"/>
                </a:solidFill>
                <a:latin typeface="Aptos"/>
              </a:defRPr>
            </a:pPr>
            <a: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D182D"/>
        </a:solidFill>
        <a:effectLst/>
      </p:bgPr>
    </p:bg>
    <p:spTree>
      <p:nvGrpSpPr>
        <p:cNvPr id="1" name=""/>
        <p:cNvGrpSpPr/>
        <p:nvPr/>
      </p:nvGrpSpPr>
      <p:grpSpPr/>
      <p:sp>
        <p:nvSpPr>
          <p:cNvPr id="2" name="TextBox 1"/>
          <p:cNvSpPr txBox="1"/>
          <p:nvPr/>
        </p:nvSpPr>
        <p:spPr>
          <a:xfrm>
            <a:off x="640080" y="411480"/>
            <a:ext cx="10789920" cy="640080"/>
          </a:xfrm>
          <a:prstGeom prst="rect">
            <a:avLst/>
          </a:prstGeom>
          <a:noFill/>
        </p:spPr>
        <p:txBody>
          <a:bodyPr wrap="square">
            <a:spAutoFit/>
          </a:bodyPr>
          <a:lstStyle/>
          <a:p>
            <a:pPr>
              <a:spcAft>
                <a:spcPts val="1200"/>
              </a:spcAft>
              <a:defRPr sz="3100" b="1">
                <a:solidFill>
                  <a:srgbClr val="F2F6FC"/>
                </a:solidFill>
                <a:latin typeface="Aptos"/>
              </a:defRPr>
            </a:pPr>
            <a:r>
              <a:t>Vấn đề CI/CD giải quyết</a:t>
            </a:r>
          </a:p>
        </p:txBody>
      </p:sp>
      <p:sp>
        <p:nvSpPr>
          <p:cNvPr id="3" name="Rectangle 2"/>
          <p:cNvSpPr/>
          <p:nvPr/>
        </p:nvSpPr>
        <p:spPr>
          <a:xfrm>
            <a:off x="640080" y="1261872"/>
            <a:ext cx="1280160" cy="54864"/>
          </a:xfrm>
          <a:prstGeom prst="rect">
            <a:avLst/>
          </a:prstGeom>
          <a:solidFill>
            <a:srgbClr val="24D3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691640"/>
            <a:ext cx="10698480" cy="4389120"/>
          </a:xfrm>
          <a:prstGeom prst="rect">
            <a:avLst/>
          </a:prstGeom>
          <a:noFill/>
        </p:spPr>
        <p:txBody>
          <a:bodyPr wrap="square">
            <a:spAutoFit/>
          </a:bodyPr>
          <a:lstStyle/>
          <a:p>
            <a:pPr>
              <a:spcAft>
                <a:spcPts val="1200"/>
              </a:spcAft>
              <a:defRPr sz="2400" b="0">
                <a:solidFill>
                  <a:srgbClr val="F2F6FC"/>
                </a:solidFill>
                <a:latin typeface="Aptos"/>
              </a:defRPr>
            </a:pPr>
            <a:r>
              <a:t>• Phát hiện lỗi sớm nhờ kiểm thử tự động</a:t>
            </a:r>
          </a:p>
          <a:p>
            <a:pPr>
              <a:spcAft>
                <a:spcPts val="1200"/>
              </a:spcAft>
              <a:defRPr sz="2400" b="0">
                <a:solidFill>
                  <a:srgbClr val="F2F6FC"/>
                </a:solidFill>
                <a:latin typeface="Aptos"/>
              </a:defRPr>
            </a:pPr>
            <a:r>
              <a:t>• Chuẩn hóa môi trường build</a:t>
            </a:r>
          </a:p>
          <a:p>
            <a:pPr>
              <a:spcAft>
                <a:spcPts val="1200"/>
              </a:spcAft>
              <a:defRPr sz="2400" b="0">
                <a:solidFill>
                  <a:srgbClr val="F2F6FC"/>
                </a:solidFill>
                <a:latin typeface="Aptos"/>
              </a:defRPr>
            </a:pPr>
            <a:r>
              <a:t>• Giảm công việc lặp lại</a:t>
            </a:r>
          </a:p>
          <a:p>
            <a:pPr>
              <a:spcAft>
                <a:spcPts val="1200"/>
              </a:spcAft>
              <a:defRPr sz="2400" b="0">
                <a:solidFill>
                  <a:srgbClr val="F2F6FC"/>
                </a:solidFill>
                <a:latin typeface="Aptos"/>
              </a:defRPr>
            </a:pPr>
            <a:r>
              <a:t>• Theo dõi rõ trạng thái từng bước</a:t>
            </a:r>
          </a:p>
        </p:txBody>
      </p:sp>
      <p:sp>
        <p:nvSpPr>
          <p:cNvPr id="5" name="TextBox 4"/>
          <p:cNvSpPr txBox="1"/>
          <p:nvPr/>
        </p:nvSpPr>
        <p:spPr>
          <a:xfrm>
            <a:off x="731520" y="6428232"/>
            <a:ext cx="10058400" cy="274320"/>
          </a:xfrm>
          <a:prstGeom prst="rect">
            <a:avLst/>
          </a:prstGeom>
          <a:noFill/>
        </p:spPr>
        <p:txBody>
          <a:bodyPr wrap="square">
            <a:spAutoFit/>
          </a:bodyPr>
          <a:lstStyle/>
          <a:p>
            <a:pPr>
              <a:spcAft>
                <a:spcPts val="1200"/>
              </a:spcAft>
              <a:defRPr sz="1000" b="0">
                <a:solidFill>
                  <a:srgbClr val="B6C2D4"/>
                </a:solidFill>
                <a:latin typeface="Aptos"/>
              </a:defRPr>
            </a:pPr>
            <a:r>
              <a:t>CI/CD CƠ BẢN  •  NODE.JS + GITHUB ACTIONS</a:t>
            </a:r>
          </a:p>
        </p:txBody>
      </p:sp>
      <p:sp>
        <p:nvSpPr>
          <p:cNvPr id="6" name="TextBox 5"/>
          <p:cNvSpPr txBox="1"/>
          <p:nvPr/>
        </p:nvSpPr>
        <p:spPr>
          <a:xfrm>
            <a:off x="11064240" y="6419088"/>
            <a:ext cx="457200" cy="274320"/>
          </a:xfrm>
          <a:prstGeom prst="rect">
            <a:avLst/>
          </a:prstGeom>
          <a:noFill/>
        </p:spPr>
        <p:txBody>
          <a:bodyPr wrap="square">
            <a:spAutoFit/>
          </a:bodyPr>
          <a:lstStyle/>
          <a:p>
            <a:pPr>
              <a:spcAft>
                <a:spcPts val="1200"/>
              </a:spcAft>
              <a:defRPr sz="1000" b="0">
                <a:solidFill>
                  <a:srgbClr val="24D3B1"/>
                </a:solidFill>
                <a:latin typeface="Aptos"/>
              </a:defRPr>
            </a:pPr>
            <a: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D182D"/>
        </a:solidFill>
        <a:effectLst/>
      </p:bgPr>
    </p:bg>
    <p:spTree>
      <p:nvGrpSpPr>
        <p:cNvPr id="1" name=""/>
        <p:cNvGrpSpPr/>
        <p:nvPr/>
      </p:nvGrpSpPr>
      <p:grpSpPr/>
      <p:sp>
        <p:nvSpPr>
          <p:cNvPr id="2" name="TextBox 1"/>
          <p:cNvSpPr txBox="1"/>
          <p:nvPr/>
        </p:nvSpPr>
        <p:spPr>
          <a:xfrm>
            <a:off x="640080" y="411480"/>
            <a:ext cx="10789920" cy="640080"/>
          </a:xfrm>
          <a:prstGeom prst="rect">
            <a:avLst/>
          </a:prstGeom>
          <a:noFill/>
        </p:spPr>
        <p:txBody>
          <a:bodyPr wrap="square">
            <a:spAutoFit/>
          </a:bodyPr>
          <a:lstStyle/>
          <a:p>
            <a:pPr>
              <a:spcAft>
                <a:spcPts val="1200"/>
              </a:spcAft>
              <a:defRPr sz="3100" b="1">
                <a:solidFill>
                  <a:srgbClr val="F2F6FC"/>
                </a:solidFill>
                <a:latin typeface="Aptos"/>
              </a:defRPr>
            </a:pPr>
            <a:r>
              <a:t>CI/CD là gì?</a:t>
            </a:r>
          </a:p>
        </p:txBody>
      </p:sp>
      <p:sp>
        <p:nvSpPr>
          <p:cNvPr id="3" name="Rectangle 2"/>
          <p:cNvSpPr/>
          <p:nvPr/>
        </p:nvSpPr>
        <p:spPr>
          <a:xfrm>
            <a:off x="640080" y="1261872"/>
            <a:ext cx="1280160" cy="54864"/>
          </a:xfrm>
          <a:prstGeom prst="rect">
            <a:avLst/>
          </a:prstGeom>
          <a:solidFill>
            <a:srgbClr val="24D3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691640"/>
            <a:ext cx="10698480" cy="4389120"/>
          </a:xfrm>
          <a:prstGeom prst="rect">
            <a:avLst/>
          </a:prstGeom>
          <a:noFill/>
        </p:spPr>
        <p:txBody>
          <a:bodyPr wrap="square">
            <a:spAutoFit/>
          </a:bodyPr>
          <a:lstStyle/>
          <a:p>
            <a:pPr>
              <a:spcAft>
                <a:spcPts val="1200"/>
              </a:spcAft>
              <a:defRPr sz="2400" b="0">
                <a:solidFill>
                  <a:srgbClr val="F2F6FC"/>
                </a:solidFill>
                <a:latin typeface="Aptos"/>
              </a:defRPr>
            </a:pPr>
            <a:r>
              <a:t>CI = Continuous Integration – Tích hợp liên tục</a:t>
            </a:r>
          </a:p>
          <a:p>
            <a:pPr>
              <a:spcAft>
                <a:spcPts val="1200"/>
              </a:spcAft>
              <a:defRPr sz="2400" b="0">
                <a:solidFill>
                  <a:srgbClr val="F2F6FC"/>
                </a:solidFill>
                <a:latin typeface="Aptos"/>
              </a:defRPr>
            </a:pPr>
            <a:r>
              <a:t>CD = Continuous Delivery – Chuyển giao liên tục</a:t>
            </a:r>
          </a:p>
          <a:p>
            <a:pPr>
              <a:spcAft>
                <a:spcPts val="1200"/>
              </a:spcAft>
              <a:defRPr sz="2400" b="0">
                <a:solidFill>
                  <a:srgbClr val="F2F6FC"/>
                </a:solidFill>
                <a:latin typeface="Aptos"/>
              </a:defRPr>
            </a:pPr>
            <a:r>
              <a:t>CD = Continuous Deployment – Triển khai liên tục</a:t>
            </a:r>
          </a:p>
        </p:txBody>
      </p:sp>
      <p:sp>
        <p:nvSpPr>
          <p:cNvPr id="5" name="TextBox 4"/>
          <p:cNvSpPr txBox="1"/>
          <p:nvPr/>
        </p:nvSpPr>
        <p:spPr>
          <a:xfrm>
            <a:off x="731520" y="6428232"/>
            <a:ext cx="10058400" cy="274320"/>
          </a:xfrm>
          <a:prstGeom prst="rect">
            <a:avLst/>
          </a:prstGeom>
          <a:noFill/>
        </p:spPr>
        <p:txBody>
          <a:bodyPr wrap="square">
            <a:spAutoFit/>
          </a:bodyPr>
          <a:lstStyle/>
          <a:p>
            <a:pPr>
              <a:spcAft>
                <a:spcPts val="1200"/>
              </a:spcAft>
              <a:defRPr sz="1000" b="0">
                <a:solidFill>
                  <a:srgbClr val="B6C2D4"/>
                </a:solidFill>
                <a:latin typeface="Aptos"/>
              </a:defRPr>
            </a:pPr>
            <a:r>
              <a:t>CI/CD CƠ BẢN  •  NODE.JS + GITHUB ACTIONS</a:t>
            </a:r>
          </a:p>
        </p:txBody>
      </p:sp>
      <p:sp>
        <p:nvSpPr>
          <p:cNvPr id="6" name="TextBox 5"/>
          <p:cNvSpPr txBox="1"/>
          <p:nvPr/>
        </p:nvSpPr>
        <p:spPr>
          <a:xfrm>
            <a:off x="11064240" y="6419088"/>
            <a:ext cx="457200" cy="274320"/>
          </a:xfrm>
          <a:prstGeom prst="rect">
            <a:avLst/>
          </a:prstGeom>
          <a:noFill/>
        </p:spPr>
        <p:txBody>
          <a:bodyPr wrap="square">
            <a:spAutoFit/>
          </a:bodyPr>
          <a:lstStyle/>
          <a:p>
            <a:pPr>
              <a:spcAft>
                <a:spcPts val="1200"/>
              </a:spcAft>
              <a:defRPr sz="1000" b="0">
                <a:solidFill>
                  <a:srgbClr val="24D3B1"/>
                </a:solidFill>
                <a:latin typeface="Aptos"/>
              </a:defRPr>
            </a:pPr>
            <a: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D182D"/>
        </a:solidFill>
        <a:effectLst/>
      </p:bgPr>
    </p:bg>
    <p:spTree>
      <p:nvGrpSpPr>
        <p:cNvPr id="1" name=""/>
        <p:cNvGrpSpPr/>
        <p:nvPr/>
      </p:nvGrpSpPr>
      <p:grpSpPr/>
      <p:sp>
        <p:nvSpPr>
          <p:cNvPr id="2" name="TextBox 1"/>
          <p:cNvSpPr txBox="1"/>
          <p:nvPr/>
        </p:nvSpPr>
        <p:spPr>
          <a:xfrm>
            <a:off x="640080" y="411480"/>
            <a:ext cx="10789920" cy="640080"/>
          </a:xfrm>
          <a:prstGeom prst="rect">
            <a:avLst/>
          </a:prstGeom>
          <a:noFill/>
        </p:spPr>
        <p:txBody>
          <a:bodyPr wrap="square">
            <a:spAutoFit/>
          </a:bodyPr>
          <a:lstStyle/>
          <a:p>
            <a:pPr>
              <a:spcAft>
                <a:spcPts val="1200"/>
              </a:spcAft>
              <a:defRPr sz="3100" b="1">
                <a:solidFill>
                  <a:srgbClr val="F2F6FC"/>
                </a:solidFill>
                <a:latin typeface="Aptos"/>
              </a:defRPr>
            </a:pPr>
            <a:r>
              <a:t>Continuous Integration (CI)</a:t>
            </a:r>
          </a:p>
        </p:txBody>
      </p:sp>
      <p:sp>
        <p:nvSpPr>
          <p:cNvPr id="3" name="Rectangle 2"/>
          <p:cNvSpPr/>
          <p:nvPr/>
        </p:nvSpPr>
        <p:spPr>
          <a:xfrm>
            <a:off x="640080" y="1261872"/>
            <a:ext cx="1280160" cy="54864"/>
          </a:xfrm>
          <a:prstGeom prst="rect">
            <a:avLst/>
          </a:prstGeom>
          <a:solidFill>
            <a:srgbClr val="24D3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691640"/>
            <a:ext cx="10698480" cy="4389120"/>
          </a:xfrm>
          <a:prstGeom prst="rect">
            <a:avLst/>
          </a:prstGeom>
          <a:noFill/>
        </p:spPr>
        <p:txBody>
          <a:bodyPr wrap="square">
            <a:spAutoFit/>
          </a:bodyPr>
          <a:lstStyle/>
          <a:p>
            <a:pPr>
              <a:spcAft>
                <a:spcPts val="1200"/>
              </a:spcAft>
              <a:defRPr sz="2400" b="0">
                <a:solidFill>
                  <a:srgbClr val="F2F6FC"/>
                </a:solidFill>
                <a:latin typeface="Aptos"/>
              </a:defRPr>
            </a:pPr>
            <a:r>
              <a:t>Push / Pull Request → Install → Test → Build → Kết quả</a:t>
            </a:r>
          </a:p>
          <a:p>
            <a:pPr>
              <a:spcAft>
                <a:spcPts val="1200"/>
              </a:spcAft>
              <a:defRPr sz="2400" b="0">
                <a:solidFill>
                  <a:srgbClr val="F2F6FC"/>
                </a:solidFill>
                <a:latin typeface="Aptos"/>
              </a:defRPr>
            </a:pPr>
            <a:r>
              <a:t>• FAIL: sửa lỗi trước khi merge</a:t>
            </a:r>
          </a:p>
          <a:p>
            <a:pPr>
              <a:spcAft>
                <a:spcPts val="1200"/>
              </a:spcAft>
              <a:defRPr sz="2400" b="0">
                <a:solidFill>
                  <a:srgbClr val="F2F6FC"/>
                </a:solidFill>
                <a:latin typeface="Aptos"/>
              </a:defRPr>
            </a:pPr>
            <a:r>
              <a:t>• PASS: sẵn sàng cho bước tiếp theo</a:t>
            </a:r>
          </a:p>
        </p:txBody>
      </p:sp>
      <p:sp>
        <p:nvSpPr>
          <p:cNvPr id="5" name="TextBox 4"/>
          <p:cNvSpPr txBox="1"/>
          <p:nvPr/>
        </p:nvSpPr>
        <p:spPr>
          <a:xfrm>
            <a:off x="731520" y="6428232"/>
            <a:ext cx="10058400" cy="274320"/>
          </a:xfrm>
          <a:prstGeom prst="rect">
            <a:avLst/>
          </a:prstGeom>
          <a:noFill/>
        </p:spPr>
        <p:txBody>
          <a:bodyPr wrap="square">
            <a:spAutoFit/>
          </a:bodyPr>
          <a:lstStyle/>
          <a:p>
            <a:pPr>
              <a:spcAft>
                <a:spcPts val="1200"/>
              </a:spcAft>
              <a:defRPr sz="1000" b="0">
                <a:solidFill>
                  <a:srgbClr val="B6C2D4"/>
                </a:solidFill>
                <a:latin typeface="Aptos"/>
              </a:defRPr>
            </a:pPr>
            <a:r>
              <a:t>CI/CD CƠ BẢN  •  NODE.JS + GITHUB ACTIONS</a:t>
            </a:r>
          </a:p>
        </p:txBody>
      </p:sp>
      <p:sp>
        <p:nvSpPr>
          <p:cNvPr id="6" name="TextBox 5"/>
          <p:cNvSpPr txBox="1"/>
          <p:nvPr/>
        </p:nvSpPr>
        <p:spPr>
          <a:xfrm>
            <a:off x="11064240" y="6419088"/>
            <a:ext cx="457200" cy="274320"/>
          </a:xfrm>
          <a:prstGeom prst="rect">
            <a:avLst/>
          </a:prstGeom>
          <a:noFill/>
        </p:spPr>
        <p:txBody>
          <a:bodyPr wrap="square">
            <a:spAutoFit/>
          </a:bodyPr>
          <a:lstStyle/>
          <a:p>
            <a:pPr>
              <a:spcAft>
                <a:spcPts val="1200"/>
              </a:spcAft>
              <a:defRPr sz="1000" b="0">
                <a:solidFill>
                  <a:srgbClr val="24D3B1"/>
                </a:solidFill>
                <a:latin typeface="Aptos"/>
              </a:defRPr>
            </a:pPr>
            <a:r>
              <a:t>5</a:t>
            </a:r>
          </a:p>
        </p:txBody>
      </p:sp>
    </p:spTree>
  </p:cSld>
  <p:clrMapOvr>
    <a:masterClrMapping/>
  </p:clrMapOvr>
</p:sld>
</file>

<file path=ppt/slides/slide6.xml><?xml version="1.0" encoding="utf-8"?>
<p:sld xmlns:a="http://schemas.openxmlformats.org/drawingml/2006/main" xmlns:p="http://schemas.openxmlformats.org/presentationml/2006/main">
  <p:cSld>
    <p:bg>
      <p:bgPr>
        <a:solidFill>
          <a:srgbClr val="0D182D"/>
        </a:solidFill>
        <a:effectLst/>
      </p:bgPr>
    </p:bg>
    <p:spTree>
      <p:nvGrpSpPr>
        <p:cNvPr id="1" name=""/>
        <p:cNvGrpSpPr/>
        <p:nvPr/>
      </p:nvGrpSpPr>
      <p:grpSpPr/>
      <p:sp>
        <p:nvSpPr>
          <p:cNvPr id="2" name="TextBox 1"/>
          <p:cNvSpPr txBox="1"/>
          <p:nvPr/>
        </p:nvSpPr>
        <p:spPr>
          <a:xfrm>
            <a:off x="640080" y="411480"/>
            <a:ext cx="10789920" cy="640080"/>
          </a:xfrm>
          <a:prstGeom prst="rect">
            <a:avLst/>
          </a:prstGeom>
          <a:noFill/>
        </p:spPr>
        <p:txBody>
          <a:bodyPr wrap="square">
            <a:spAutoFit/>
          </a:bodyPr>
          <a:lstStyle/>
          <a:p>
            <a:pPr>
              <a:spcAft>
                <a:spcPts val="1200"/>
              </a:spcAft>
              <a:defRPr sz="3100" b="1">
                <a:solidFill>
                  <a:srgbClr val="F2F6FC"/>
                </a:solidFill>
                <a:latin typeface="Aptos"/>
              </a:defRPr>
            </a:pPr>
            <a:r>
              <a:t>Continuous Delivery</a:t>
            </a:r>
          </a:p>
        </p:txBody>
      </p:sp>
      <p:sp>
        <p:nvSpPr>
          <p:cNvPr id="3" name="Rectangle 2"/>
          <p:cNvSpPr/>
          <p:nvPr/>
        </p:nvSpPr>
        <p:spPr>
          <a:xfrm>
            <a:off x="640080" y="1261872"/>
            <a:ext cx="1280160" cy="54864"/>
          </a:xfrm>
          <a:prstGeom prst="rect">
            <a:avLst/>
          </a:prstGeom>
          <a:solidFill>
            <a:srgbClr val="24D3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691640"/>
            <a:ext cx="10698480" cy="4389120"/>
          </a:xfrm>
          <a:prstGeom prst="rect">
            <a:avLst/>
          </a:prstGeom>
          <a:noFill/>
        </p:spPr>
        <p:txBody>
          <a:bodyPr wrap="square">
            <a:spAutoFit/>
          </a:bodyPr>
          <a:lstStyle/>
          <a:p>
            <a:pPr>
              <a:spcAft>
                <a:spcPts val="1200"/>
              </a:spcAft>
              <a:defRPr sz="2400" b="0">
                <a:solidFill>
                  <a:srgbClr val="F2F6FC"/>
                </a:solidFill>
                <a:latin typeface="Aptos"/>
              </a:defRPr>
            </a:pPr>
            <a:r>
              <a:t>• CI thành công trên nhánh main</a:t>
            </a:r>
          </a:p>
          <a:p>
            <a:pPr>
              <a:spcAft>
                <a:spcPts val="1200"/>
              </a:spcAft>
              <a:defRPr sz="2400" b="0">
                <a:solidFill>
                  <a:srgbClr val="F2F6FC"/>
                </a:solidFill>
                <a:latin typeface="Aptos"/>
              </a:defRPr>
            </a:pPr>
            <a:r>
              <a:t>• Đóng gói artifact có phiên bản</a:t>
            </a:r>
          </a:p>
          <a:p>
            <a:pPr>
              <a:spcAft>
                <a:spcPts val="1200"/>
              </a:spcAft>
              <a:defRPr sz="2400" b="0">
                <a:solidFill>
                  <a:srgbClr val="F2F6FC"/>
                </a:solidFill>
                <a:latin typeface="Aptos"/>
              </a:defRPr>
            </a:pPr>
            <a:r>
              <a:t>• Lưu artifact để triển khai staging</a:t>
            </a:r>
          </a:p>
          <a:p>
            <a:pPr>
              <a:spcAft>
                <a:spcPts val="1200"/>
              </a:spcAft>
              <a:defRPr sz="2400" b="0">
                <a:solidFill>
                  <a:srgbClr val="F2F6FC"/>
                </a:solidFill>
                <a:latin typeface="Aptos"/>
              </a:defRPr>
            </a:pPr>
            <a:r>
              <a:t>• Production cần phê duyệt riêng</a:t>
            </a:r>
          </a:p>
        </p:txBody>
      </p:sp>
      <p:sp>
        <p:nvSpPr>
          <p:cNvPr id="5" name="TextBox 4"/>
          <p:cNvSpPr txBox="1"/>
          <p:nvPr/>
        </p:nvSpPr>
        <p:spPr>
          <a:xfrm>
            <a:off x="731520" y="6428232"/>
            <a:ext cx="10058400" cy="274320"/>
          </a:xfrm>
          <a:prstGeom prst="rect">
            <a:avLst/>
          </a:prstGeom>
          <a:noFill/>
        </p:spPr>
        <p:txBody>
          <a:bodyPr wrap="square">
            <a:spAutoFit/>
          </a:bodyPr>
          <a:lstStyle/>
          <a:p>
            <a:pPr>
              <a:spcAft>
                <a:spcPts val="1200"/>
              </a:spcAft>
              <a:defRPr sz="1000" b="0">
                <a:solidFill>
                  <a:srgbClr val="B6C2D4"/>
                </a:solidFill>
                <a:latin typeface="Aptos"/>
              </a:defRPr>
            </a:pPr>
            <a:r>
              <a:t/>
            </a:r>
          </a:p>
        </p:txBody>
      </p:sp>
      <p:sp>
        <p:nvSpPr>
          <p:cNvPr id="6" name="TextBox 5"/>
          <p:cNvSpPr txBox="1"/>
          <p:nvPr/>
        </p:nvSpPr>
        <p:spPr>
          <a:xfrm>
            <a:off x="11064240" y="6419088"/>
            <a:ext cx="457200" cy="274320"/>
          </a:xfrm>
          <a:prstGeom prst="rect">
            <a:avLst/>
          </a:prstGeom>
          <a:noFill/>
        </p:spPr>
        <p:txBody>
          <a:bodyPr wrap="square">
            <a:spAutoFit/>
          </a:bodyPr>
          <a:lstStyle/>
          <a:p>
            <a:pPr>
              <a:spcAft>
                <a:spcPts val="1200"/>
              </a:spcAft>
              <a:defRPr sz="1000" b="0">
                <a:solidFill>
                  <a:srgbClr val="24D3B1"/>
                </a:solidFill>
                <a:latin typeface="Aptos"/>
              </a:defRPr>
            </a:pPr>
            <a:r>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D182D"/>
        </a:solidFill>
        <a:effectLst/>
      </p:bgPr>
    </p:bg>
    <p:spTree>
      <p:nvGrpSpPr>
        <p:cNvPr id="1" name=""/>
        <p:cNvGrpSpPr/>
        <p:nvPr/>
      </p:nvGrpSpPr>
      <p:grpSpPr/>
      <p:sp>
        <p:nvSpPr>
          <p:cNvPr id="2" name="TextBox 1"/>
          <p:cNvSpPr txBox="1"/>
          <p:nvPr/>
        </p:nvSpPr>
        <p:spPr>
          <a:xfrm>
            <a:off x="640080" y="411480"/>
            <a:ext cx="10789920" cy="640080"/>
          </a:xfrm>
          <a:prstGeom prst="rect">
            <a:avLst/>
          </a:prstGeom>
          <a:noFill/>
        </p:spPr>
        <p:txBody>
          <a:bodyPr wrap="square">
            <a:spAutoFit/>
          </a:bodyPr>
          <a:lstStyle/>
          <a:p>
            <a:pPr>
              <a:spcAft>
                <a:spcPts val="1200"/>
              </a:spcAft>
              <a:defRPr sz="3100" b="1">
                <a:solidFill>
                  <a:srgbClr val="F2F6FC"/>
                </a:solidFill>
                <a:latin typeface="Aptos"/>
              </a:defRPr>
            </a:pPr>
            <a:r>
              <a:t>Continuous Deployment</a:t>
            </a:r>
          </a:p>
        </p:txBody>
      </p:sp>
      <p:sp>
        <p:nvSpPr>
          <p:cNvPr id="3" name="Rectangle 2"/>
          <p:cNvSpPr/>
          <p:nvPr/>
        </p:nvSpPr>
        <p:spPr>
          <a:xfrm>
            <a:off x="640080" y="1261872"/>
            <a:ext cx="1280160" cy="54864"/>
          </a:xfrm>
          <a:prstGeom prst="rect">
            <a:avLst/>
          </a:prstGeom>
          <a:solidFill>
            <a:srgbClr val="24D3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691640"/>
            <a:ext cx="10698480" cy="4389120"/>
          </a:xfrm>
          <a:prstGeom prst="rect">
            <a:avLst/>
          </a:prstGeom>
          <a:noFill/>
        </p:spPr>
        <p:txBody>
          <a:bodyPr wrap="square">
            <a:spAutoFit/>
          </a:bodyPr>
          <a:lstStyle/>
          <a:p>
            <a:pPr>
              <a:spcAft>
                <a:spcPts val="1200"/>
              </a:spcAft>
              <a:defRPr sz="2400" b="0">
                <a:solidFill>
                  <a:srgbClr val="F2F6FC"/>
                </a:solidFill>
                <a:latin typeface="Aptos"/>
              </a:defRPr>
            </a:pPr>
            <a:r>
              <a:t>• Tự động phát hành lên production</a:t>
            </a:r>
          </a:p>
          <a:p>
            <a:pPr>
              <a:spcAft>
                <a:spcPts val="1200"/>
              </a:spcAft>
              <a:defRPr sz="2400" b="0">
                <a:solidFill>
                  <a:srgbClr val="F2F6FC"/>
                </a:solidFill>
                <a:latin typeface="Aptos"/>
              </a:defRPr>
            </a:pPr>
            <a:r>
              <a:t>• Không cần phê duyệt cho mỗi lần release</a:t>
            </a:r>
          </a:p>
          <a:p>
            <a:pPr>
              <a:spcAft>
                <a:spcPts val="1200"/>
              </a:spcAft>
              <a:defRPr sz="2400" b="0">
                <a:solidFill>
                  <a:srgbClr val="F2F6FC"/>
                </a:solidFill>
                <a:latin typeface="Aptos"/>
              </a:defRPr>
            </a:pPr>
            <a:r>
              <a:t>• Cần test, monitoring và rollback tốt</a:t>
            </a:r>
          </a:p>
        </p:txBody>
      </p:sp>
      <p:sp>
        <p:nvSpPr>
          <p:cNvPr id="5" name="TextBox 4"/>
          <p:cNvSpPr txBox="1"/>
          <p:nvPr/>
        </p:nvSpPr>
        <p:spPr>
          <a:xfrm>
            <a:off x="731520" y="6428232"/>
            <a:ext cx="10058400" cy="274320"/>
          </a:xfrm>
          <a:prstGeom prst="rect">
            <a:avLst/>
          </a:prstGeom>
          <a:noFill/>
        </p:spPr>
        <p:txBody>
          <a:bodyPr wrap="square">
            <a:spAutoFit/>
          </a:bodyPr>
          <a:lstStyle/>
          <a:p>
            <a:pPr>
              <a:spcAft>
                <a:spcPts val="1200"/>
              </a:spcAft>
              <a:defRPr sz="1000" b="0">
                <a:solidFill>
                  <a:srgbClr val="B6C2D4"/>
                </a:solidFill>
                <a:latin typeface="Aptos"/>
              </a:defRPr>
            </a:pPr>
            <a:r>
              <a:t>CI/CD CƠ BẢN  •  NODE.JS + GITHUB ACTIONS</a:t>
            </a:r>
          </a:p>
        </p:txBody>
      </p:sp>
      <p:sp>
        <p:nvSpPr>
          <p:cNvPr id="6" name="TextBox 5"/>
          <p:cNvSpPr txBox="1"/>
          <p:nvPr/>
        </p:nvSpPr>
        <p:spPr>
          <a:xfrm>
            <a:off x="11064240" y="6419088"/>
            <a:ext cx="457200" cy="274320"/>
          </a:xfrm>
          <a:prstGeom prst="rect">
            <a:avLst/>
          </a:prstGeom>
          <a:noFill/>
        </p:spPr>
        <p:txBody>
          <a:bodyPr wrap="square">
            <a:spAutoFit/>
          </a:bodyPr>
          <a:lstStyle/>
          <a:p>
            <a:pPr>
              <a:spcAft>
                <a:spcPts val="1200"/>
              </a:spcAft>
              <a:defRPr sz="1000" b="0">
                <a:solidFill>
                  <a:srgbClr val="24D3B1"/>
                </a:solidFill>
                <a:latin typeface="Aptos"/>
              </a:defRPr>
            </a:pPr>
            <a: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D182D"/>
        </a:solidFill>
        <a:effectLst/>
      </p:bgPr>
    </p:bg>
    <p:spTree>
      <p:nvGrpSpPr>
        <p:cNvPr id="1" name=""/>
        <p:cNvGrpSpPr/>
        <p:nvPr/>
      </p:nvGrpSpPr>
      <p:grpSpPr/>
      <p:sp>
        <p:nvSpPr>
          <p:cNvPr id="2" name="TextBox 1"/>
          <p:cNvSpPr txBox="1"/>
          <p:nvPr/>
        </p:nvSpPr>
        <p:spPr>
          <a:xfrm>
            <a:off x="640080" y="411480"/>
            <a:ext cx="10789920" cy="640080"/>
          </a:xfrm>
          <a:prstGeom prst="rect">
            <a:avLst/>
          </a:prstGeom>
          <a:noFill/>
        </p:spPr>
        <p:txBody>
          <a:bodyPr wrap="square">
            <a:spAutoFit/>
          </a:bodyPr>
          <a:lstStyle/>
          <a:p>
            <a:pPr>
              <a:spcAft>
                <a:spcPts val="1200"/>
              </a:spcAft>
              <a:defRPr sz="3100" b="1">
                <a:solidFill>
                  <a:srgbClr val="F2F6FC"/>
                </a:solidFill>
                <a:latin typeface="Aptos"/>
              </a:defRPr>
            </a:pPr>
            <a:r>
              <a:t>So sánh CI và hai hình thức CD</a:t>
            </a:r>
          </a:p>
        </p:txBody>
      </p:sp>
      <p:sp>
        <p:nvSpPr>
          <p:cNvPr id="3" name="Rectangle 2"/>
          <p:cNvSpPr/>
          <p:nvPr/>
        </p:nvSpPr>
        <p:spPr>
          <a:xfrm>
            <a:off x="640080" y="1261872"/>
            <a:ext cx="1280160" cy="54864"/>
          </a:xfrm>
          <a:prstGeom prst="rect">
            <a:avLst/>
          </a:prstGeom>
          <a:solidFill>
            <a:srgbClr val="24D3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691640"/>
            <a:ext cx="10698480" cy="4389120"/>
          </a:xfrm>
          <a:prstGeom prst="rect">
            <a:avLst/>
          </a:prstGeom>
          <a:noFill/>
        </p:spPr>
        <p:txBody>
          <a:bodyPr wrap="square">
            <a:spAutoFit/>
          </a:bodyPr>
          <a:lstStyle/>
          <a:p>
            <a:pPr>
              <a:spcAft>
                <a:spcPts val="1200"/>
              </a:spcAft>
              <a:defRPr sz="2400" b="0">
                <a:solidFill>
                  <a:srgbClr val="F2F6FC"/>
                </a:solidFill>
                <a:latin typeface="Aptos"/>
              </a:defRPr>
            </a:pPr>
            <a:r>
              <a:t>CI: kiểm tra và tích hợp thay đổi</a:t>
            </a:r>
          </a:p>
          <a:p>
            <a:pPr>
              <a:spcAft>
                <a:spcPts val="1200"/>
              </a:spcAft>
              <a:defRPr sz="2400" b="0">
                <a:solidFill>
                  <a:srgbClr val="F2F6FC"/>
                </a:solidFill>
                <a:latin typeface="Aptos"/>
              </a:defRPr>
            </a:pPr>
            <a:r>
              <a:t>Delivery: luôn sẵn sàng phát hành</a:t>
            </a:r>
          </a:p>
          <a:p>
            <a:pPr>
              <a:spcAft>
                <a:spcPts val="1200"/>
              </a:spcAft>
              <a:defRPr sz="2400" b="0">
                <a:solidFill>
                  <a:srgbClr val="F2F6FC"/>
                </a:solidFill>
                <a:latin typeface="Aptos"/>
              </a:defRPr>
            </a:pPr>
            <a:r>
              <a:t>Deployment: tự động phát hành khi đủ điều kiện</a:t>
            </a:r>
          </a:p>
        </p:txBody>
      </p:sp>
      <p:sp>
        <p:nvSpPr>
          <p:cNvPr id="5" name="TextBox 4"/>
          <p:cNvSpPr txBox="1"/>
          <p:nvPr/>
        </p:nvSpPr>
        <p:spPr>
          <a:xfrm>
            <a:off x="731520" y="6428232"/>
            <a:ext cx="10058400" cy="274320"/>
          </a:xfrm>
          <a:prstGeom prst="rect">
            <a:avLst/>
          </a:prstGeom>
          <a:noFill/>
        </p:spPr>
        <p:txBody>
          <a:bodyPr wrap="square">
            <a:spAutoFit/>
          </a:bodyPr>
          <a:lstStyle/>
          <a:p>
            <a:pPr>
              <a:spcAft>
                <a:spcPts val="1200"/>
              </a:spcAft>
              <a:defRPr sz="1000" b="0">
                <a:solidFill>
                  <a:srgbClr val="B6C2D4"/>
                </a:solidFill>
                <a:latin typeface="Aptos"/>
              </a:defRPr>
            </a:pPr>
            <a:r>
              <a:t>CI/CD CƠ BẢN  •  NODE.JS + GITHUB ACTIONS</a:t>
            </a:r>
          </a:p>
        </p:txBody>
      </p:sp>
      <p:sp>
        <p:nvSpPr>
          <p:cNvPr id="6" name="TextBox 5"/>
          <p:cNvSpPr txBox="1"/>
          <p:nvPr/>
        </p:nvSpPr>
        <p:spPr>
          <a:xfrm>
            <a:off x="11064240" y="6419088"/>
            <a:ext cx="457200" cy="274320"/>
          </a:xfrm>
          <a:prstGeom prst="rect">
            <a:avLst/>
          </a:prstGeom>
          <a:noFill/>
        </p:spPr>
        <p:txBody>
          <a:bodyPr wrap="square">
            <a:spAutoFit/>
          </a:bodyPr>
          <a:lstStyle/>
          <a:p>
            <a:pPr>
              <a:spcAft>
                <a:spcPts val="1200"/>
              </a:spcAft>
              <a:defRPr sz="1000" b="0">
                <a:solidFill>
                  <a:srgbClr val="24D3B1"/>
                </a:solidFill>
                <a:latin typeface="Aptos"/>
              </a:defRPr>
            </a:pPr>
            <a:r>
              <a:t>8</a:t>
            </a:r>
          </a:p>
        </p:txBody>
      </p:sp>
    </p:spTree>
  </p:cSld>
  <p:clrMapOvr>
    <a:masterClrMapping/>
  </p:clrMapOvr>
</p:sld>
</file>

<file path=ppt/slides/slide9.xml><?xml version="1.0" encoding="utf-8"?>
<p:sld xmlns:a="http://schemas.openxmlformats.org/drawingml/2006/main" xmlns:p="http://schemas.openxmlformats.org/presentationml/2006/main">
  <p:cSld>
    <p:bg>
      <p:bgPr>
        <a:solidFill>
          <a:srgbClr val="0D182D"/>
        </a:solidFill>
        <a:effectLst/>
      </p:bgPr>
    </p:bg>
    <p:spTree>
      <p:nvGrpSpPr>
        <p:cNvPr id="1" name=""/>
        <p:cNvGrpSpPr/>
        <p:nvPr/>
      </p:nvGrpSpPr>
      <p:grpSpPr/>
      <p:sp>
        <p:nvSpPr>
          <p:cNvPr id="2" name="TextBox 1"/>
          <p:cNvSpPr txBox="1"/>
          <p:nvPr/>
        </p:nvSpPr>
        <p:spPr>
          <a:xfrm>
            <a:off x="640080" y="411480"/>
            <a:ext cx="10789920" cy="640080"/>
          </a:xfrm>
          <a:prstGeom prst="rect">
            <a:avLst/>
          </a:prstGeom>
          <a:noFill/>
        </p:spPr>
        <p:txBody>
          <a:bodyPr wrap="square">
            <a:spAutoFit/>
          </a:bodyPr>
          <a:lstStyle/>
          <a:p>
            <a:pPr>
              <a:spcAft>
                <a:spcPts val="1200"/>
              </a:spcAft>
              <a:defRPr sz="3100" b="1">
                <a:solidFill>
                  <a:srgbClr val="F2F6FC"/>
                </a:solidFill>
                <a:latin typeface="Aptos"/>
              </a:defRPr>
            </a:pPr>
            <a:r>
              <a:t>CI/CD Pipeline</a:t>
            </a:r>
          </a:p>
        </p:txBody>
      </p:sp>
      <p:sp>
        <p:nvSpPr>
          <p:cNvPr id="3" name="Rectangle 2"/>
          <p:cNvSpPr/>
          <p:nvPr/>
        </p:nvSpPr>
        <p:spPr>
          <a:xfrm>
            <a:off x="640080" y="1261872"/>
            <a:ext cx="1280160" cy="54864"/>
          </a:xfrm>
          <a:prstGeom prst="rect">
            <a:avLst/>
          </a:prstGeom>
          <a:solidFill>
            <a:srgbClr val="24D3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691640"/>
            <a:ext cx="10698480" cy="4389120"/>
          </a:xfrm>
          <a:prstGeom prst="rect">
            <a:avLst/>
          </a:prstGeom>
          <a:noFill/>
        </p:spPr>
        <p:txBody>
          <a:bodyPr wrap="square">
            <a:spAutoFit/>
          </a:bodyPr>
          <a:lstStyle/>
          <a:p>
            <a:pPr>
              <a:spcAft>
                <a:spcPts val="1200"/>
              </a:spcAft>
              <a:defRPr sz="2400" b="0">
                <a:solidFill>
                  <a:srgbClr val="F2F6FC"/>
                </a:solidFill>
                <a:latin typeface="Aptos"/>
              </a:defRPr>
            </a:pPr>
            <a:r>
              <a:t>CODE → LINT → TEST → BUILD → PACKAGE</a:t>
            </a:r>
          </a:p>
          <a:p>
            <a:pPr>
              <a:spcAft>
                <a:spcPts val="1200"/>
              </a:spcAft>
              <a:defRPr sz="2400" b="0">
                <a:solidFill>
                  <a:srgbClr val="F2F6FC"/>
                </a:solidFill>
                <a:latin typeface="Aptos"/>
              </a:defRPr>
            </a:pPr>
            <a:r>
              <a:t>→ STAGING → RELEASE → MONITOR</a:t>
            </a:r>
          </a:p>
          <a:p>
            <a:pPr>
              <a:spcAft>
                <a:spcPts val="1200"/>
              </a:spcAft>
              <a:defRPr sz="2400" b="0">
                <a:solidFill>
                  <a:srgbClr val="F2F6FC"/>
                </a:solidFill>
                <a:latin typeface="Aptos"/>
              </a:defRPr>
            </a:pPr>
            <a:r>
              <a:t>• Delivery: tạo artifact sẵn sàng phát hành</a:t>
            </a:r>
          </a:p>
        </p:txBody>
      </p:sp>
      <p:sp>
        <p:nvSpPr>
          <p:cNvPr id="5" name="TextBox 4"/>
          <p:cNvSpPr txBox="1"/>
          <p:nvPr/>
        </p:nvSpPr>
        <p:spPr>
          <a:xfrm>
            <a:off x="731520" y="6428232"/>
            <a:ext cx="10058400" cy="274320"/>
          </a:xfrm>
          <a:prstGeom prst="rect">
            <a:avLst/>
          </a:prstGeom>
          <a:noFill/>
        </p:spPr>
        <p:txBody>
          <a:bodyPr wrap="square">
            <a:spAutoFit/>
          </a:bodyPr>
          <a:lstStyle/>
          <a:p>
            <a:pPr>
              <a:spcAft>
                <a:spcPts val="1200"/>
              </a:spcAft>
              <a:defRPr sz="1000" b="0">
                <a:solidFill>
                  <a:srgbClr val="B6C2D4"/>
                </a:solidFill>
                <a:latin typeface="Aptos"/>
              </a:defRPr>
            </a:pPr>
            <a:r>
              <a:t>• Ví dụ deploy: chép gói lên staging qua SSH</a:t>
            </a:r>
          </a:p>
        </p:txBody>
      </p:sp>
      <p:sp>
        <p:nvSpPr>
          <p:cNvPr id="6" name="TextBox 5"/>
          <p:cNvSpPr txBox="1"/>
          <p:nvPr/>
        </p:nvSpPr>
        <p:spPr>
          <a:xfrm>
            <a:off x="11064240" y="6419088"/>
            <a:ext cx="457200" cy="274320"/>
          </a:xfrm>
          <a:prstGeom prst="rect">
            <a:avLst/>
          </a:prstGeom>
          <a:noFill/>
        </p:spPr>
        <p:txBody>
          <a:bodyPr wrap="square">
            <a:spAutoFit/>
          </a:bodyPr>
          <a:lstStyle/>
          <a:p>
            <a:pPr>
              <a:spcAft>
                <a:spcPts val="1200"/>
              </a:spcAft>
              <a:defRPr sz="1000" b="0">
                <a:solidFill>
                  <a:srgbClr val="24D3B1"/>
                </a:solidFill>
                <a:latin typeface="Aptos"/>
              </a:defRPr>
            </a:pPr>
            <a:r>
              <a:t>• Production: thêm approval và bước phát hành riêng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D182D"/>
        </a:solidFill>
        <a:effectLst/>
      </p:bgPr>
    </p:bg>
    <p:spTree>
      <p:nvGrpSpPr>
        <p:cNvPr id="1" name=""/>
        <p:cNvGrpSpPr/>
        <p:nvPr/>
      </p:nvGrpSpPr>
      <p:grpSpPr/>
      <p:sp>
        <p:nvSpPr>
          <p:cNvPr id="2" name="TextBox 1"/>
          <p:cNvSpPr txBox="1"/>
          <p:nvPr/>
        </p:nvSpPr>
        <p:spPr>
          <a:xfrm>
            <a:off x="640080" y="411480"/>
            <a:ext cx="10789920" cy="640080"/>
          </a:xfrm>
          <a:prstGeom prst="rect">
            <a:avLst/>
          </a:prstGeom>
          <a:noFill/>
        </p:spPr>
        <p:txBody>
          <a:bodyPr wrap="square">
            <a:spAutoFit/>
          </a:bodyPr>
          <a:lstStyle/>
          <a:p>
            <a:pPr>
              <a:spcAft>
                <a:spcPts val="1200"/>
              </a:spcAft>
              <a:defRPr sz="3100" b="1">
                <a:solidFill>
                  <a:srgbClr val="F2F6FC"/>
                </a:solidFill>
                <a:latin typeface="Aptos"/>
              </a:defRPr>
            </a:pPr>
            <a:r>
              <a:t>Công cụ CI/CD phổ biến</a:t>
            </a:r>
          </a:p>
        </p:txBody>
      </p:sp>
      <p:sp>
        <p:nvSpPr>
          <p:cNvPr id="3" name="Rectangle 2"/>
          <p:cNvSpPr/>
          <p:nvPr/>
        </p:nvSpPr>
        <p:spPr>
          <a:xfrm>
            <a:off x="640080" y="1261872"/>
            <a:ext cx="1280160" cy="54864"/>
          </a:xfrm>
          <a:prstGeom prst="rect">
            <a:avLst/>
          </a:prstGeom>
          <a:solidFill>
            <a:srgbClr val="24D3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691640"/>
            <a:ext cx="10698480" cy="4389120"/>
          </a:xfrm>
          <a:prstGeom prst="rect">
            <a:avLst/>
          </a:prstGeom>
          <a:noFill/>
        </p:spPr>
        <p:txBody>
          <a:bodyPr wrap="square">
            <a:spAutoFit/>
          </a:bodyPr>
          <a:lstStyle/>
          <a:p>
            <a:pPr>
              <a:spcAft>
                <a:spcPts val="1200"/>
              </a:spcAft>
              <a:defRPr sz="2400" b="0">
                <a:solidFill>
                  <a:srgbClr val="F2F6FC"/>
                </a:solidFill>
                <a:latin typeface="Aptos"/>
              </a:defRPr>
            </a:pPr>
            <a:r>
              <a:t>GitHub Actions – gần gũi với GitHub</a:t>
            </a:r>
          </a:p>
          <a:p>
            <a:pPr>
              <a:spcAft>
                <a:spcPts val="1200"/>
              </a:spcAft>
              <a:defRPr sz="2400" b="0">
                <a:solidFill>
                  <a:srgbClr val="F2F6FC"/>
                </a:solidFill>
                <a:latin typeface="Aptos"/>
              </a:defRPr>
            </a:pPr>
            <a:r>
              <a:t>GitLab CI/CD – tích hợp GitLab</a:t>
            </a:r>
          </a:p>
          <a:p>
            <a:pPr>
              <a:spcAft>
                <a:spcPts val="1200"/>
              </a:spcAft>
              <a:defRPr sz="2400" b="0">
                <a:solidFill>
                  <a:srgbClr val="F2F6FC"/>
                </a:solidFill>
                <a:latin typeface="Aptos"/>
              </a:defRPr>
            </a:pPr>
            <a:r>
              <a:t>Jenkins – linh hoạt, nhiều plugin</a:t>
            </a:r>
          </a:p>
        </p:txBody>
      </p:sp>
      <p:sp>
        <p:nvSpPr>
          <p:cNvPr id="5" name="TextBox 4"/>
          <p:cNvSpPr txBox="1"/>
          <p:nvPr/>
        </p:nvSpPr>
        <p:spPr>
          <a:xfrm>
            <a:off x="731520" y="6428232"/>
            <a:ext cx="10058400" cy="274320"/>
          </a:xfrm>
          <a:prstGeom prst="rect">
            <a:avLst/>
          </a:prstGeom>
          <a:noFill/>
        </p:spPr>
        <p:txBody>
          <a:bodyPr wrap="square">
            <a:spAutoFit/>
          </a:bodyPr>
          <a:lstStyle/>
          <a:p>
            <a:pPr>
              <a:spcAft>
                <a:spcPts val="1200"/>
              </a:spcAft>
              <a:defRPr sz="1000" b="0">
                <a:solidFill>
                  <a:srgbClr val="B6C2D4"/>
                </a:solidFill>
                <a:latin typeface="Aptos"/>
              </a:defRPr>
            </a:pPr>
            <a:r>
              <a:t>CI/CD CƠ BẢN  •  NODE.JS + GITHUB ACTIONS</a:t>
            </a:r>
          </a:p>
        </p:txBody>
      </p:sp>
      <p:sp>
        <p:nvSpPr>
          <p:cNvPr id="6" name="TextBox 5"/>
          <p:cNvSpPr txBox="1"/>
          <p:nvPr/>
        </p:nvSpPr>
        <p:spPr>
          <a:xfrm>
            <a:off x="11064240" y="6419088"/>
            <a:ext cx="457200" cy="274320"/>
          </a:xfrm>
          <a:prstGeom prst="rect">
            <a:avLst/>
          </a:prstGeom>
          <a:noFill/>
        </p:spPr>
        <p:txBody>
          <a:bodyPr wrap="square">
            <a:spAutoFit/>
          </a:bodyPr>
          <a:lstStyle/>
          <a:p>
            <a:pPr>
              <a:spcAft>
                <a:spcPts val="1200"/>
              </a:spcAft>
              <a:defRPr sz="1000" b="0">
                <a:solidFill>
                  <a:srgbClr val="24D3B1"/>
                </a:solidFill>
                <a:latin typeface="Aptos"/>
              </a:defRPr>
            </a:pPr>
            <a: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D182D"/>
        </a:solidFill>
        <a:effectLst/>
      </p:bgPr>
    </p:bg>
    <p:spTree>
      <p:nvGrpSpPr>
        <p:cNvPr id="1" name=""/>
        <p:cNvGrpSpPr/>
        <p:nvPr/>
      </p:nvGrpSpPr>
      <p:grpSpPr/>
      <p:sp>
        <p:nvSpPr>
          <p:cNvPr id="2" name="TextBox 1"/>
          <p:cNvSpPr txBox="1"/>
          <p:nvPr/>
        </p:nvSpPr>
        <p:spPr>
          <a:xfrm>
            <a:off x="640080" y="411480"/>
            <a:ext cx="10789920" cy="640080"/>
          </a:xfrm>
          <a:prstGeom prst="rect">
            <a:avLst/>
          </a:prstGeom>
          <a:noFill/>
        </p:spPr>
        <p:txBody>
          <a:bodyPr wrap="square">
            <a:spAutoFit/>
          </a:bodyPr>
          <a:lstStyle/>
          <a:p>
            <a:pPr>
              <a:spcAft>
                <a:spcPts val="1200"/>
              </a:spcAft>
              <a:defRPr sz="3100" b="1">
                <a:solidFill>
                  <a:srgbClr val="F2F6FC"/>
                </a:solidFill>
                <a:latin typeface="Aptos"/>
              </a:defRPr>
            </a:pPr>
            <a:r>
              <a:t>Ví dụ Node.js: giảm giá</a:t>
            </a:r>
          </a:p>
        </p:txBody>
      </p:sp>
      <p:sp>
        <p:nvSpPr>
          <p:cNvPr id="3" name="Rectangle 2"/>
          <p:cNvSpPr/>
          <p:nvPr/>
        </p:nvSpPr>
        <p:spPr>
          <a:xfrm>
            <a:off x="640080" y="1261872"/>
            <a:ext cx="1280160" cy="54864"/>
          </a:xfrm>
          <a:prstGeom prst="rect">
            <a:avLst/>
          </a:prstGeom>
          <a:solidFill>
            <a:srgbClr val="24D3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691640"/>
            <a:ext cx="10698480" cy="4389120"/>
          </a:xfrm>
          <a:prstGeom prst="rect">
            <a:avLst/>
          </a:prstGeom>
          <a:noFill/>
        </p:spPr>
        <p:txBody>
          <a:bodyPr wrap="square">
            <a:spAutoFit/>
          </a:bodyPr>
          <a:lstStyle/>
          <a:p>
            <a:pPr>
              <a:spcAft>
                <a:spcPts val="1200"/>
              </a:spcAft>
              <a:defRPr sz="2400" b="0">
                <a:solidFill>
                  <a:srgbClr val="F2F6FC"/>
                </a:solidFill>
                <a:latin typeface="Aptos"/>
              </a:defRPr>
            </a:pPr>
            <a:r>
              <a:t>Giá gốc: 2.000.000đ</a:t>
            </a:r>
          </a:p>
          <a:p>
            <a:pPr>
              <a:spcAft>
                <a:spcPts val="1200"/>
              </a:spcAft>
              <a:defRPr sz="2400" b="0">
                <a:solidFill>
                  <a:srgbClr val="F2F6FC"/>
                </a:solidFill>
                <a:latin typeface="Aptos"/>
              </a:defRPr>
            </a:pPr>
            <a:r>
              <a:t>Giảm giá: 10%</a:t>
            </a:r>
          </a:p>
          <a:p>
            <a:pPr>
              <a:spcAft>
                <a:spcPts val="1200"/>
              </a:spcAft>
              <a:defRPr sz="2400" b="0">
                <a:solidFill>
                  <a:srgbClr val="F2F6FC"/>
                </a:solidFill>
                <a:latin typeface="Aptos"/>
              </a:defRPr>
            </a:pPr>
            <a:r>
              <a:t>Giá đúng: 1.800.000đ</a:t>
            </a:r>
          </a:p>
          <a:p>
            <a:pPr>
              <a:spcAft>
                <a:spcPts val="1200"/>
              </a:spcAft>
              <a:defRPr sz="2400" b="0">
                <a:solidFill>
                  <a:srgbClr val="F2F6FC"/>
                </a:solidFill>
                <a:latin typeface="Aptos"/>
              </a:defRPr>
            </a:pPr>
          </a:p>
          <a:p>
            <a:pPr>
              <a:spcAft>
                <a:spcPts val="1200"/>
              </a:spcAft>
              <a:defRPr sz="2400" b="0">
                <a:solidFill>
                  <a:srgbClr val="F2F6FC"/>
                </a:solidFill>
                <a:latin typeface="Aptos"/>
              </a:defRPr>
            </a:pPr>
            <a:r>
              <a:t>return price - price * discount / 100;</a:t>
            </a:r>
          </a:p>
        </p:txBody>
      </p:sp>
      <p:sp>
        <p:nvSpPr>
          <p:cNvPr id="5" name="TextBox 4"/>
          <p:cNvSpPr txBox="1"/>
          <p:nvPr/>
        </p:nvSpPr>
        <p:spPr>
          <a:xfrm>
            <a:off x="731520" y="6428232"/>
            <a:ext cx="10058400" cy="274320"/>
          </a:xfrm>
          <a:prstGeom prst="rect">
            <a:avLst/>
          </a:prstGeom>
          <a:noFill/>
        </p:spPr>
        <p:txBody>
          <a:bodyPr wrap="square">
            <a:spAutoFit/>
          </a:bodyPr>
          <a:lstStyle/>
          <a:p>
            <a:pPr>
              <a:spcAft>
                <a:spcPts val="1200"/>
              </a:spcAft>
              <a:defRPr sz="1000" b="0">
                <a:solidFill>
                  <a:srgbClr val="B6C2D4"/>
                </a:solidFill>
                <a:latin typeface="Aptos"/>
              </a:defRPr>
            </a:pPr>
            <a:r>
              <a:t>CI/CD CƠ BẢN  •  NODE.JS + GITHUB ACTIONS</a:t>
            </a:r>
          </a:p>
        </p:txBody>
      </p:sp>
      <p:sp>
        <p:nvSpPr>
          <p:cNvPr id="6" name="TextBox 5"/>
          <p:cNvSpPr txBox="1"/>
          <p:nvPr/>
        </p:nvSpPr>
        <p:spPr>
          <a:xfrm>
            <a:off x="11064240" y="6419088"/>
            <a:ext cx="457200" cy="274320"/>
          </a:xfrm>
          <a:prstGeom prst="rect">
            <a:avLst/>
          </a:prstGeom>
          <a:noFill/>
        </p:spPr>
        <p:txBody>
          <a:bodyPr wrap="square">
            <a:spAutoFit/>
          </a:bodyPr>
          <a:lstStyle/>
          <a:p>
            <a:pPr>
              <a:spcAft>
                <a:spcPts val="1200"/>
              </a:spcAft>
              <a:defRPr sz="1000" b="0">
                <a:solidFill>
                  <a:srgbClr val="24D3B1"/>
                </a:solidFill>
                <a:latin typeface="Aptos"/>
              </a:defRPr>
            </a:pPr>
            <a: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D182D"/>
        </a:solidFill>
        <a:effectLst/>
      </p:bgPr>
    </p:bg>
    <p:spTree>
      <p:nvGrpSpPr>
        <p:cNvPr id="1" name=""/>
        <p:cNvGrpSpPr/>
        <p:nvPr/>
      </p:nvGrpSpPr>
      <p:grpSpPr/>
      <p:sp>
        <p:nvSpPr>
          <p:cNvPr id="2" name="TextBox 1"/>
          <p:cNvSpPr txBox="1"/>
          <p:nvPr/>
        </p:nvSpPr>
        <p:spPr>
          <a:xfrm>
            <a:off x="640080" y="411480"/>
            <a:ext cx="10789920" cy="640080"/>
          </a:xfrm>
          <a:prstGeom prst="rect">
            <a:avLst/>
          </a:prstGeom>
          <a:noFill/>
        </p:spPr>
        <p:txBody>
          <a:bodyPr wrap="square">
            <a:spAutoFit/>
          </a:bodyPr>
          <a:lstStyle/>
          <a:p>
            <a:pPr>
              <a:spcAft>
                <a:spcPts val="1200"/>
              </a:spcAft>
              <a:defRPr sz="3100" b="1">
                <a:solidFill>
                  <a:srgbClr val="F2F6FC"/>
                </a:solidFill>
                <a:latin typeface="Aptos"/>
              </a:defRPr>
            </a:pPr>
            <a:r>
              <a:t>Unit Test với Jest</a:t>
            </a:r>
          </a:p>
        </p:txBody>
      </p:sp>
      <p:sp>
        <p:nvSpPr>
          <p:cNvPr id="3" name="Rectangle 2"/>
          <p:cNvSpPr/>
          <p:nvPr/>
        </p:nvSpPr>
        <p:spPr>
          <a:xfrm>
            <a:off x="640080" y="1261872"/>
            <a:ext cx="1280160" cy="54864"/>
          </a:xfrm>
          <a:prstGeom prst="rect">
            <a:avLst/>
          </a:prstGeom>
          <a:solidFill>
            <a:srgbClr val="24D3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691640"/>
            <a:ext cx="10698480" cy="4389120"/>
          </a:xfrm>
          <a:prstGeom prst="rect">
            <a:avLst/>
          </a:prstGeom>
          <a:noFill/>
        </p:spPr>
        <p:txBody>
          <a:bodyPr wrap="square">
            <a:spAutoFit/>
          </a:bodyPr>
          <a:lstStyle/>
          <a:p>
            <a:pPr>
              <a:spcAft>
                <a:spcPts val="1200"/>
              </a:spcAft>
              <a:defRPr sz="2400" b="0">
                <a:solidFill>
                  <a:srgbClr val="F2F6FC"/>
                </a:solidFill>
                <a:latin typeface="Aptos"/>
              </a:defRPr>
            </a:pPr>
            <a:r>
              <a:t>test("Giảm giá 10%", () =&gt; {</a:t>
            </a:r>
          </a:p>
          <a:p>
            <a:pPr>
              <a:spcAft>
                <a:spcPts val="1200"/>
              </a:spcAft>
              <a:defRPr sz="2400" b="0">
                <a:solidFill>
                  <a:srgbClr val="F2F6FC"/>
                </a:solidFill>
                <a:latin typeface="Aptos"/>
              </a:defRPr>
            </a:pPr>
            <a:r>
              <a:t>  expect(calculatePrice(2000000, 10))</a:t>
            </a:r>
          </a:p>
          <a:p>
            <a:pPr>
              <a:spcAft>
                <a:spcPts val="1200"/>
              </a:spcAft>
              <a:defRPr sz="2400" b="0">
                <a:solidFill>
                  <a:srgbClr val="F2F6FC"/>
                </a:solidFill>
                <a:latin typeface="Aptos"/>
              </a:defRPr>
            </a:pPr>
            <a:r>
              <a:t>    .toBe(1800000);</a:t>
            </a:r>
          </a:p>
          <a:p>
            <a:pPr>
              <a:spcAft>
                <a:spcPts val="1200"/>
              </a:spcAft>
              <a:defRPr sz="2400" b="0">
                <a:solidFill>
                  <a:srgbClr val="F2F6FC"/>
                </a:solidFill>
                <a:latin typeface="Aptos"/>
              </a:defRPr>
            </a:pPr>
            <a:r>
              <a:t>});</a:t>
            </a:r>
          </a:p>
        </p:txBody>
      </p:sp>
      <p:sp>
        <p:nvSpPr>
          <p:cNvPr id="5" name="TextBox 4"/>
          <p:cNvSpPr txBox="1"/>
          <p:nvPr/>
        </p:nvSpPr>
        <p:spPr>
          <a:xfrm>
            <a:off x="731520" y="6428232"/>
            <a:ext cx="10058400" cy="274320"/>
          </a:xfrm>
          <a:prstGeom prst="rect">
            <a:avLst/>
          </a:prstGeom>
          <a:noFill/>
        </p:spPr>
        <p:txBody>
          <a:bodyPr wrap="square">
            <a:spAutoFit/>
          </a:bodyPr>
          <a:lstStyle/>
          <a:p>
            <a:pPr>
              <a:spcAft>
                <a:spcPts val="1200"/>
              </a:spcAft>
              <a:defRPr sz="1000" b="0">
                <a:solidFill>
                  <a:srgbClr val="B6C2D4"/>
                </a:solidFill>
                <a:latin typeface="Aptos"/>
              </a:defRPr>
            </a:pPr>
            <a:r>
              <a:t>CI/CD CƠ BẢN  •  NODE.JS + GITHUB ACTIONS</a:t>
            </a:r>
          </a:p>
        </p:txBody>
      </p:sp>
      <p:sp>
        <p:nvSpPr>
          <p:cNvPr id="6" name="TextBox 5"/>
          <p:cNvSpPr txBox="1"/>
          <p:nvPr/>
        </p:nvSpPr>
        <p:spPr>
          <a:xfrm>
            <a:off x="11064240" y="6419088"/>
            <a:ext cx="457200" cy="274320"/>
          </a:xfrm>
          <a:prstGeom prst="rect">
            <a:avLst/>
          </a:prstGeom>
          <a:noFill/>
        </p:spPr>
        <p:txBody>
          <a:bodyPr wrap="square">
            <a:spAutoFit/>
          </a:bodyPr>
          <a:lstStyle/>
          <a:p>
            <a:pPr>
              <a:spcAft>
                <a:spcPts val="1200"/>
              </a:spcAft>
              <a:defRPr sz="1000" b="0">
                <a:solidFill>
                  <a:srgbClr val="24D3B1"/>
                </a:solidFill>
                <a:latin typeface="Aptos"/>
              </a:defRPr>
            </a:pPr>
            <a:r>
              <a:t>12</a:t>
            </a:r>
          </a:p>
        </p:txBody>
      </p:sp>
    </p:spTree>
  </p:cSld>
  <p:clrMapOvr>
    <a:masterClrMapping/>
  </p:clrMapOvr>
</p:sld>
</file>

<file path=ppt/slides/slide13.xml><?xml version="1.0" encoding="utf-8"?>
<p:sld xmlns:a="http://schemas.openxmlformats.org/drawingml/2006/main" xmlns:p="http://schemas.openxmlformats.org/presentationml/2006/main">
  <p:cSld>
    <p:bg>
      <p:bgPr>
        <a:solidFill>
          <a:srgbClr val="0D182D"/>
        </a:solidFill>
        <a:effectLst/>
      </p:bgPr>
    </p:bg>
    <p:spTree>
      <p:nvGrpSpPr>
        <p:cNvPr id="1" name=""/>
        <p:cNvGrpSpPr/>
        <p:nvPr/>
      </p:nvGrpSpPr>
      <p:grpSpPr/>
      <p:sp>
        <p:nvSpPr>
          <p:cNvPr id="2" name="TextBox 1"/>
          <p:cNvSpPr txBox="1"/>
          <p:nvPr/>
        </p:nvSpPr>
        <p:spPr>
          <a:xfrm>
            <a:off x="640080" y="411480"/>
            <a:ext cx="10789920" cy="640080"/>
          </a:xfrm>
          <a:prstGeom prst="rect">
            <a:avLst/>
          </a:prstGeom>
          <a:noFill/>
        </p:spPr>
        <p:txBody>
          <a:bodyPr wrap="square">
            <a:spAutoFit/>
          </a:bodyPr>
          <a:lstStyle/>
          <a:p>
            <a:pPr>
              <a:spcAft>
                <a:spcPts val="1200"/>
              </a:spcAft>
              <a:defRPr sz="3100" b="1">
                <a:solidFill>
                  <a:srgbClr val="F2F6FC"/>
                </a:solidFill>
                <a:latin typeface="Aptos"/>
              </a:defRPr>
            </a:pPr>
            <a:r>
              <a:t>GitHub Actions – CI → CD</a:t>
            </a:r>
          </a:p>
        </p:txBody>
      </p:sp>
      <p:sp>
        <p:nvSpPr>
          <p:cNvPr id="3" name="Rectangle 2"/>
          <p:cNvSpPr/>
          <p:nvPr/>
        </p:nvSpPr>
        <p:spPr>
          <a:xfrm>
            <a:off x="640080" y="1261872"/>
            <a:ext cx="1280160" cy="54864"/>
          </a:xfrm>
          <a:prstGeom prst="rect">
            <a:avLst/>
          </a:prstGeom>
          <a:solidFill>
            <a:srgbClr val="24D3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691640"/>
            <a:ext cx="10698480" cy="4389120"/>
          </a:xfrm>
          <a:prstGeom prst="rect">
            <a:avLst/>
          </a:prstGeom>
          <a:noFill/>
        </p:spPr>
        <p:txBody>
          <a:bodyPr wrap="square">
            <a:spAutoFit/>
          </a:bodyPr>
          <a:lstStyle/>
          <a:p>
            <a:pPr>
              <a:spcAft>
                <a:spcPts val="1200"/>
              </a:spcAft>
              <a:defRPr sz="2400" b="0">
                <a:solidFill>
                  <a:srgbClr val="F2F6FC"/>
                </a:solidFill>
                <a:latin typeface="Aptos"/>
              </a:defRPr>
            </a:pPr>
            <a:r>
              <a:t>CI: push / pull_request → lint → test → build</a:t>
            </a:r>
          </a:p>
          <a:p>
            <a:pPr>
              <a:spcAft>
                <a:spcPts val="1200"/>
              </a:spcAft>
              <a:defRPr sz="2400" b="0">
                <a:solidFill>
                  <a:srgbClr val="F2F6FC"/>
                </a:solidFill>
                <a:latin typeface="Aptos"/>
              </a:defRPr>
            </a:pPr>
            <a:r>
              <a:t>CD: push main + CI PASS → package → upload artifact</a:t>
            </a:r>
          </a:p>
          <a:p>
            <a:pPr>
              <a:spcAft>
                <a:spcPts val="1200"/>
              </a:spcAft>
              <a:defRPr sz="2400" b="0">
                <a:solidFill>
                  <a:srgbClr val="F2F6FC"/>
                </a:solidFill>
                <a:latin typeface="Aptos"/>
              </a:defRPr>
            </a:pPr>
            <a:r>
              <a:t>Deploy staging: tải artifact → SSH/SCP → giải nén</a:t>
            </a:r>
          </a:p>
          <a:p>
            <a:pPr>
              <a:spcAft>
                <a:spcPts val="1200"/>
              </a:spcAft>
              <a:defRPr sz="2400" b="0">
                <a:solidFill>
                  <a:srgbClr val="F2F6FC"/>
                </a:solidFill>
                <a:latin typeface="Aptos"/>
              </a:defRPr>
            </a:pPr>
            <a:r>
              <a:t>upload-artifact@v6 / download-artifact@v7 dùng Node.js 24</a:t>
            </a:r>
          </a:p>
          <a:p>
            <a:pPr>
              <a:spcAft>
                <a:spcPts val="1200"/>
              </a:spcAft>
              <a:defRPr sz="2400" b="0">
                <a:solidFill>
                  <a:srgbClr val="F2F6FC"/>
                </a:solidFill>
                <a:latin typeface="Aptos"/>
              </a:defRPr>
            </a:pPr>
            <a:r>
              <a:t/>
            </a:r>
          </a:p>
        </p:txBody>
      </p:sp>
      <p:sp>
        <p:nvSpPr>
          <p:cNvPr id="5" name="TextBox 4"/>
          <p:cNvSpPr txBox="1"/>
          <p:nvPr/>
        </p:nvSpPr>
        <p:spPr>
          <a:xfrm>
            <a:off x="731520" y="6428232"/>
            <a:ext cx="10058400" cy="274320"/>
          </a:xfrm>
          <a:prstGeom prst="rect">
            <a:avLst/>
          </a:prstGeom>
          <a:noFill/>
        </p:spPr>
        <p:txBody>
          <a:bodyPr wrap="square">
            <a:spAutoFit/>
          </a:bodyPr>
          <a:lstStyle/>
          <a:p>
            <a:pPr>
              <a:spcAft>
                <a:spcPts val="1200"/>
              </a:spcAft>
              <a:defRPr sz="1000" b="0">
                <a:solidFill>
                  <a:srgbClr val="B6C2D4"/>
                </a:solidFill>
                <a:latin typeface="Aptos"/>
              </a:defRPr>
            </a:pPr>
            <a:r>
              <a:t/>
            </a:r>
          </a:p>
        </p:txBody>
      </p:sp>
      <p:sp>
        <p:nvSpPr>
          <p:cNvPr id="6" name="TextBox 5"/>
          <p:cNvSpPr txBox="1"/>
          <p:nvPr/>
        </p:nvSpPr>
        <p:spPr>
          <a:xfrm>
            <a:off x="11064240" y="6419088"/>
            <a:ext cx="457200" cy="274320"/>
          </a:xfrm>
          <a:prstGeom prst="rect">
            <a:avLst/>
          </a:prstGeom>
          <a:noFill/>
        </p:spPr>
        <p:txBody>
          <a:bodyPr wrap="square">
            <a:spAutoFit/>
          </a:bodyPr>
          <a:lstStyle/>
          <a:p>
            <a:pPr>
              <a:spcAft>
                <a:spcPts val="1200"/>
              </a:spcAft>
              <a:defRPr sz="1000" b="0">
                <a:solidFill>
                  <a:srgbClr val="24D3B1"/>
                </a:solidFill>
                <a:latin typeface="Aptos"/>
              </a:defRPr>
            </a:pPr>
            <a:r>
              <a:t/>
            </a:r>
          </a:p>
        </p:txBody>
      </p:sp>
    </p:spTree>
  </p:cSld>
  <p:clrMapOvr>
    <a:masterClrMapping/>
  </p:clrMapOvr>
</p:sld>
</file>

<file path=ppt/slides/slide14.xml><?xml version="1.0" encoding="utf-8"?>
<p:sld xmlns:a="http://schemas.openxmlformats.org/drawingml/2006/main" xmlns:p="http://schemas.openxmlformats.org/presentationml/2006/main">
  <p:cSld>
    <p:bg>
      <p:bgPr>
        <a:solidFill>
          <a:srgbClr val="0D182D"/>
        </a:solidFill>
        <a:effectLst/>
      </p:bgPr>
    </p:bg>
    <p:spTree>
      <p:nvGrpSpPr>
        <p:cNvPr id="1" name=""/>
        <p:cNvGrpSpPr/>
        <p:nvPr/>
      </p:nvGrpSpPr>
      <p:grpSpPr/>
      <p:sp>
        <p:nvSpPr>
          <p:cNvPr id="2" name="TextBox 1"/>
          <p:cNvSpPr txBox="1"/>
          <p:nvPr/>
        </p:nvSpPr>
        <p:spPr>
          <a:xfrm>
            <a:off x="640080" y="411480"/>
            <a:ext cx="10789920" cy="640080"/>
          </a:xfrm>
          <a:prstGeom prst="rect">
            <a:avLst/>
          </a:prstGeom>
          <a:noFill/>
        </p:spPr>
        <p:txBody>
          <a:bodyPr wrap="square">
            <a:spAutoFit/>
          </a:bodyPr>
          <a:lstStyle/>
          <a:p>
            <a:pPr>
              <a:spcAft>
                <a:spcPts val="1200"/>
              </a:spcAft>
              <a:defRPr sz="3100" b="1">
                <a:solidFill>
                  <a:srgbClr val="F2F6FC"/>
                </a:solidFill>
                <a:latin typeface="Aptos"/>
              </a:defRPr>
            </a:pPr>
            <a:r>
              <a:t>Demo: FAIL → PASS → ARTIFACT</a:t>
            </a:r>
          </a:p>
        </p:txBody>
      </p:sp>
      <p:sp>
        <p:nvSpPr>
          <p:cNvPr id="3" name="Rectangle 2"/>
          <p:cNvSpPr/>
          <p:nvPr/>
        </p:nvSpPr>
        <p:spPr>
          <a:xfrm>
            <a:off x="640080" y="1261872"/>
            <a:ext cx="1280160" cy="54864"/>
          </a:xfrm>
          <a:prstGeom prst="rect">
            <a:avLst/>
          </a:prstGeom>
          <a:solidFill>
            <a:srgbClr val="24D3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691640"/>
            <a:ext cx="10698480" cy="4389120"/>
          </a:xfrm>
          <a:prstGeom prst="rect">
            <a:avLst/>
          </a:prstGeom>
          <a:noFill/>
        </p:spPr>
        <p:txBody>
          <a:bodyPr wrap="square">
            <a:spAutoFit/>
          </a:bodyPr>
          <a:lstStyle/>
          <a:p>
            <a:pPr>
              <a:spcAft>
                <a:spcPts val="1200"/>
              </a:spcAft>
              <a:defRPr sz="2400" b="0">
                <a:solidFill>
                  <a:srgbClr val="F2F6FC"/>
                </a:solidFill>
                <a:latin typeface="Aptos"/>
              </a:defRPr>
            </a:pPr>
            <a:r>
              <a:t>1. Công thức sai → unit test FAIL</a:t>
            </a:r>
          </a:p>
          <a:p>
            <a:pPr>
              <a:spcAft>
                <a:spcPts val="1200"/>
              </a:spcAft>
              <a:defRPr sz="2400" b="0">
                <a:solidFill>
                  <a:srgbClr val="F2F6FC"/>
                </a:solidFill>
                <a:latin typeface="Aptos"/>
              </a:defRPr>
            </a:pPr>
            <a:r>
              <a:t>2. Sửa công thức → lint, test, build PASS</a:t>
            </a:r>
          </a:p>
          <a:p>
            <a:pPr>
              <a:spcAft>
                <a:spcPts val="1200"/>
              </a:spcAft>
              <a:defRPr sz="2400" b="0">
                <a:solidFill>
                  <a:srgbClr val="F2F6FC"/>
                </a:solidFill>
                <a:latin typeface="Aptos"/>
              </a:defRPr>
            </a:pPr>
            <a:r>
              <a:t>3. Push main → workflow tạo artifact</a:t>
            </a:r>
          </a:p>
        </p:txBody>
      </p:sp>
      <p:sp>
        <p:nvSpPr>
          <p:cNvPr id="5" name="TextBox 4"/>
          <p:cNvSpPr txBox="1"/>
          <p:nvPr/>
        </p:nvSpPr>
        <p:spPr>
          <a:xfrm>
            <a:off x="731520" y="6428232"/>
            <a:ext cx="10058400" cy="274320"/>
          </a:xfrm>
          <a:prstGeom prst="rect">
            <a:avLst/>
          </a:prstGeom>
          <a:noFill/>
        </p:spPr>
        <p:txBody>
          <a:bodyPr wrap="square">
            <a:spAutoFit/>
          </a:bodyPr>
          <a:lstStyle/>
          <a:p>
            <a:pPr>
              <a:spcAft>
                <a:spcPts val="1200"/>
              </a:spcAft>
              <a:defRPr sz="1000" b="0">
                <a:solidFill>
                  <a:srgbClr val="B6C2D4"/>
                </a:solidFill>
                <a:latin typeface="Aptos"/>
              </a:defRPr>
            </a:pPr>
            <a:r>
              <a:t>4. Bật ENABLE_SSH_DEPLOY → job deploy staging chạy</a:t>
            </a:r>
          </a:p>
        </p:txBody>
      </p:sp>
      <p:sp>
        <p:nvSpPr>
          <p:cNvPr id="6" name="TextBox 5"/>
          <p:cNvSpPr txBox="1"/>
          <p:nvPr/>
        </p:nvSpPr>
        <p:spPr>
          <a:xfrm>
            <a:off x="11064240" y="6419088"/>
            <a:ext cx="457200" cy="274320"/>
          </a:xfrm>
          <a:prstGeom prst="rect">
            <a:avLst/>
          </a:prstGeom>
          <a:noFill/>
        </p:spPr>
        <p:txBody>
          <a:bodyPr wrap="square">
            <a:spAutoFit/>
          </a:bodyPr>
          <a:lstStyle/>
          <a:p>
            <a:pPr>
              <a:spcAft>
                <a:spcPts val="1200"/>
              </a:spcAft>
              <a:defRPr sz="1000" b="0">
                <a:solidFill>
                  <a:srgbClr val="24D3B1"/>
                </a:solidFill>
                <a:latin typeface="Aptos"/>
              </a:defRPr>
            </a:pPr>
            <a:r>
              <a:t>5. Xem log SSH/SCP và kiểm tra thư mục trên máy staging</a:t>
            </a:r>
          </a:p>
        </p:txBody>
      </p:sp>
    </p:spTree>
  </p:cSld>
  <p:clrMapOvr>
    <a:masterClrMapping/>
  </p:clrMapOvr>
</p:sld>
</file>

<file path=ppt/slides/slide15.xml><?xml version="1.0" encoding="utf-8"?>
<p:sld xmlns:a="http://schemas.openxmlformats.org/drawingml/2006/main" xmlns:p="http://schemas.openxmlformats.org/presentationml/2006/main">
  <p:cSld>
    <p:bg>
      <p:bgPr>
        <a:solidFill>
          <a:srgbClr val="0D182D"/>
        </a:solidFill>
        <a:effectLst/>
      </p:bgPr>
    </p:bg>
    <p:spTree>
      <p:nvGrpSpPr>
        <p:cNvPr id="1" name=""/>
        <p:cNvGrpSpPr/>
        <p:nvPr/>
      </p:nvGrpSpPr>
      <p:grpSpPr/>
      <p:sp>
        <p:nvSpPr>
          <p:cNvPr id="2" name="TextBox 1"/>
          <p:cNvSpPr txBox="1"/>
          <p:nvPr/>
        </p:nvSpPr>
        <p:spPr>
          <a:xfrm>
            <a:off x="640080" y="411480"/>
            <a:ext cx="10789920" cy="640080"/>
          </a:xfrm>
          <a:prstGeom prst="rect">
            <a:avLst/>
          </a:prstGeom>
          <a:noFill/>
        </p:spPr>
        <p:txBody>
          <a:bodyPr wrap="square">
            <a:spAutoFit/>
          </a:bodyPr>
          <a:lstStyle/>
          <a:p>
            <a:pPr>
              <a:spcAft>
                <a:spcPts val="1200"/>
              </a:spcAft>
              <a:defRPr sz="3100" b="1">
                <a:solidFill>
                  <a:srgbClr val="F2F6FC"/>
                </a:solidFill>
                <a:latin typeface="Aptos"/>
              </a:defRPr>
            </a:pPr>
            <a:r>
              <a:t>Best Practices &amp; Tổng kết</a:t>
            </a:r>
          </a:p>
        </p:txBody>
      </p:sp>
      <p:sp>
        <p:nvSpPr>
          <p:cNvPr id="3" name="Rectangle 2"/>
          <p:cNvSpPr/>
          <p:nvPr/>
        </p:nvSpPr>
        <p:spPr>
          <a:xfrm>
            <a:off x="640080" y="1261872"/>
            <a:ext cx="1280160" cy="54864"/>
          </a:xfrm>
          <a:prstGeom prst="rect">
            <a:avLst/>
          </a:prstGeom>
          <a:solidFill>
            <a:srgbClr val="24D3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691640"/>
            <a:ext cx="10698480" cy="4389120"/>
          </a:xfrm>
          <a:prstGeom prst="rect">
            <a:avLst/>
          </a:prstGeom>
          <a:noFill/>
        </p:spPr>
        <p:txBody>
          <a:bodyPr wrap="square">
            <a:spAutoFit/>
          </a:bodyPr>
          <a:lstStyle/>
          <a:p>
            <a:pPr>
              <a:spcAft>
                <a:spcPts val="1200"/>
              </a:spcAft>
              <a:defRPr sz="2100" b="0">
                <a:solidFill>
                  <a:srgbClr val="F2F6FC"/>
                </a:solidFill>
                <a:latin typeface="Aptos"/>
              </a:defRPr>
            </a:pPr>
            <a:r>
              <a:t>• Chạy CI cho Pull Request</a:t>
            </a:r>
          </a:p>
          <a:p>
            <a:pPr>
              <a:spcAft>
                <a:spcPts val="1200"/>
              </a:spcAft>
              <a:defRPr sz="2100" b="0">
                <a:solidFill>
                  <a:srgbClr val="F2F6FC"/>
                </a:solidFill>
                <a:latin typeface="Aptos"/>
              </a:defRPr>
            </a:pPr>
            <a:r>
              <a:t>• Chỉ deploy sau lint, test, build thành công</a:t>
            </a:r>
          </a:p>
          <a:p>
            <a:pPr>
              <a:spcAft>
                <a:spcPts val="1200"/>
              </a:spcAft>
              <a:defRPr sz="2100" b="0">
                <a:solidFill>
                  <a:srgbClr val="F2F6FC"/>
                </a:solidFill>
                <a:latin typeface="Aptos"/>
              </a:defRPr>
            </a:pPr>
            <a:r>
              <a:t>• Dùng SSH key riêng, quyền tối thiểu</a:t>
            </a:r>
          </a:p>
          <a:p>
            <a:pPr>
              <a:spcAft>
                <a:spcPts val="1200"/>
              </a:spcAft>
              <a:defRPr sz="2100" b="0">
                <a:solidFill>
                  <a:srgbClr val="F2F6FC"/>
                </a:solidFill>
                <a:latin typeface="Aptos"/>
              </a:defRPr>
            </a:pPr>
            <a:r>
              <a:t>• Kiểm tra staging; production cần approval</a:t>
            </a:r>
          </a:p>
          <a:p>
            <a:pPr>
              <a:spcAft>
                <a:spcPts val="1200"/>
              </a:spcAft>
              <a:defRPr sz="2100" b="0">
                <a:solidFill>
                  <a:srgbClr val="F2F6FC"/>
                </a:solidFill>
                <a:latin typeface="Aptos"/>
              </a:defRPr>
            </a:pPr>
            <a:r>
              <a:t>CI kiểm tra | Delivery đóng gói | Deploy đưa bản lên môi trường</a:t>
            </a:r>
          </a:p>
          <a:p>
            <a:pPr>
              <a:spcAft>
                <a:spcPts val="1200"/>
              </a:spcAft>
              <a:defRPr sz="2100" b="0">
                <a:solidFill>
                  <a:srgbClr val="F2F6FC"/>
                </a:solidFill>
                <a:latin typeface="Aptos"/>
              </a:defRPr>
            </a:pPr>
          </a:p>
          <a:p>
            <a:pPr>
              <a:spcAft>
                <a:spcPts val="1200"/>
              </a:spcAft>
              <a:defRPr sz="2100" b="0">
                <a:solidFill>
                  <a:srgbClr val="F2F6FC"/>
                </a:solidFill>
                <a:latin typeface="Aptos"/>
              </a:defRPr>
            </a:pPr>
            <a:r>
              <a:t/>
            </a:r>
          </a:p>
        </p:txBody>
      </p:sp>
      <p:sp>
        <p:nvSpPr>
          <p:cNvPr id="5" name="TextBox 4"/>
          <p:cNvSpPr txBox="1"/>
          <p:nvPr/>
        </p:nvSpPr>
        <p:spPr>
          <a:xfrm>
            <a:off x="731520" y="6428232"/>
            <a:ext cx="10058400" cy="274320"/>
          </a:xfrm>
          <a:prstGeom prst="rect">
            <a:avLst/>
          </a:prstGeom>
          <a:noFill/>
        </p:spPr>
        <p:txBody>
          <a:bodyPr wrap="square">
            <a:spAutoFit/>
          </a:bodyPr>
          <a:lstStyle/>
          <a:p>
            <a:pPr>
              <a:spcAft>
                <a:spcPts val="1200"/>
              </a:spcAft>
              <a:defRPr sz="1000" b="0">
                <a:solidFill>
                  <a:srgbClr val="B6C2D4"/>
                </a:solidFill>
                <a:latin typeface="Aptos"/>
              </a:defRPr>
            </a:pPr>
            <a:r>
              <a:t/>
            </a:r>
          </a:p>
        </p:txBody>
      </p:sp>
      <p:sp>
        <p:nvSpPr>
          <p:cNvPr id="6" name="TextBox 5"/>
          <p:cNvSpPr txBox="1"/>
          <p:nvPr/>
        </p:nvSpPr>
        <p:spPr>
          <a:xfrm>
            <a:off x="11064240" y="6419088"/>
            <a:ext cx="457200" cy="274320"/>
          </a:xfrm>
          <a:prstGeom prst="rect">
            <a:avLst/>
          </a:prstGeom>
          <a:noFill/>
        </p:spPr>
        <p:txBody>
          <a:bodyPr wrap="square">
            <a:spAutoFit/>
          </a:bodyPr>
          <a:lstStyle/>
          <a:p>
            <a:pPr>
              <a:spcAft>
                <a:spcPts val="1200"/>
              </a:spcAft>
              <a:defRPr sz="1000" b="0">
                <a:solidFill>
                  <a:srgbClr val="24D3B1"/>
                </a:solidFill>
                <a:latin typeface="Aptos"/>
              </a:defRPr>
            </a:pPr>
            <a:r>
              <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C1628"/>
        </a:solidFill>
        <a:effectLst/>
      </p:bgPr>
    </p:bg>
    <p:spTree>
      <p:nvGrpSpPr>
        <p:cNvPr id="1" name=""/>
        <p:cNvGrpSpPr/>
        <p:nvPr/>
      </p:nvGrpSpPr>
      <p:grpSpPr/>
      <p:sp>
        <p:nvSpPr>
          <p:cNvPr id="2" name="TextBox 1"/>
          <p:cNvSpPr txBox="1"/>
          <p:nvPr/>
        </p:nvSpPr>
        <p:spPr>
          <a:xfrm>
            <a:off x="640080" y="438912"/>
            <a:ext cx="10881360" cy="640080"/>
          </a:xfrm>
          <a:prstGeom prst="rect">
            <a:avLst/>
          </a:prstGeom>
          <a:noFill/>
        </p:spPr>
        <p:txBody>
          <a:bodyPr wrap="square">
            <a:spAutoFit/>
          </a:bodyPr>
          <a:lstStyle/>
          <a:p>
            <a:pPr>
              <a:spcAft>
                <a:spcPts val="1300"/>
              </a:spcAft>
              <a:defRPr sz="3000" b="1">
                <a:solidFill>
                  <a:srgbClr val="F5F9FF"/>
                </a:solidFill>
              </a:defRPr>
            </a:pPr>
            <a:r>
              <a:t>GitHub Actions lấy ở đâu?</a:t>
            </a:r>
          </a:p>
        </p:txBody>
      </p:sp>
      <p:sp>
        <p:nvSpPr>
          <p:cNvPr id="3" name="TextBox 2"/>
          <p:cNvSpPr txBox="1"/>
          <p:nvPr/>
        </p:nvSpPr>
        <p:spPr>
          <a:xfrm>
            <a:off x="777240" y="1645920"/>
            <a:ext cx="10607040" cy="4526280"/>
          </a:xfrm>
          <a:prstGeom prst="rect">
            <a:avLst/>
          </a:prstGeom>
          <a:noFill/>
        </p:spPr>
        <p:txBody>
          <a:bodyPr wrap="square">
            <a:spAutoFit/>
          </a:bodyPr>
          <a:lstStyle/>
          <a:p>
            <a:pPr>
              <a:spcAft>
                <a:spcPts val="1300"/>
              </a:spcAft>
              <a:defRPr sz="2100" b="0">
                <a:solidFill>
                  <a:srgbClr val="D6E4F3"/>
                </a:solidFill>
              </a:defRPr>
            </a:pPr>
            <a:r>
              <a:t>GitHub Marketplace: github.com/marketplace?type=actions</a:t>
            </a:r>
          </a:p>
          <a:p>
            <a:pPr>
              <a:spcAft>
                <a:spcPts val="1300"/>
              </a:spcAft>
              <a:defRPr sz="2100" b="0">
                <a:solidFill>
                  <a:srgbClr val="D6E4F3"/>
                </a:solidFill>
              </a:defRPr>
            </a:pPr>
            <a:r>
              <a:t>Repository chính thức: github.com/actions/checkout</a:t>
            </a:r>
          </a:p>
          <a:p>
            <a:pPr>
              <a:spcAft>
                <a:spcPts val="1300"/>
              </a:spcAft>
              <a:defRPr sz="2100" b="0">
                <a:solidFill>
                  <a:srgbClr val="D6E4F3"/>
                </a:solidFill>
              </a:defRPr>
            </a:pPr>
            <a:r>
              <a:t>Đọc README: cách dùng, inputs, outputs và phiên bản</a:t>
            </a:r>
          </a:p>
          <a:p>
            <a:pPr>
              <a:spcAft>
                <a:spcPts val="1300"/>
              </a:spcAft>
              <a:defRPr sz="2100" b="0">
                <a:solidFill>
                  <a:srgbClr val="D6E4F3"/>
                </a:solidFill>
              </a:defRPr>
            </a:pPr>
            <a:r>
              <a:t>Ưu tiên action uy tín; production nên pin commit SHA.</a:t>
            </a:r>
          </a:p>
        </p:txBody>
      </p:sp>
      <p:sp>
        <p:nvSpPr>
          <p:cNvPr id="4" name="TextBox 3"/>
          <p:cNvSpPr txBox="1"/>
          <p:nvPr/>
        </p:nvSpPr>
        <p:spPr>
          <a:xfrm>
            <a:off x="731520" y="6419088"/>
            <a:ext cx="9144000" cy="274320"/>
          </a:xfrm>
          <a:prstGeom prst="rect">
            <a:avLst/>
          </a:prstGeom>
          <a:noFill/>
        </p:spPr>
        <p:txBody>
          <a:bodyPr wrap="square">
            <a:spAutoFit/>
          </a:bodyPr>
          <a:lstStyle/>
          <a:p>
            <a:pPr>
              <a:spcAft>
                <a:spcPts val="1300"/>
              </a:spcAft>
              <a:defRPr sz="1000" b="0">
                <a:solidFill>
                  <a:srgbClr val="839BB7"/>
                </a:solidFill>
              </a:defRPr>
            </a:pPr>
            <a:r>
              <a:t>CI/CD CƠ BẢN  •  NODE.JS + GITHUB ACTIONS</a:t>
            </a:r>
          </a:p>
        </p:txBody>
      </p:sp>
      <p:sp>
        <p:nvSpPr>
          <p:cNvPr id="5" name="TextBox 4"/>
          <p:cNvSpPr txBox="1"/>
          <p:nvPr/>
        </p:nvSpPr>
        <p:spPr>
          <a:xfrm>
            <a:off x="11064240" y="6419088"/>
            <a:ext cx="457200" cy="274320"/>
          </a:xfrm>
          <a:prstGeom prst="rect">
            <a:avLst/>
          </a:prstGeom>
          <a:noFill/>
        </p:spPr>
        <p:txBody>
          <a:bodyPr wrap="square">
            <a:spAutoFit/>
          </a:bodyPr>
          <a:lstStyle/>
          <a:p>
            <a:pPr>
              <a:spcAft>
                <a:spcPts val="1300"/>
              </a:spcAft>
              <a:defRPr sz="1000" b="0">
                <a:solidFill>
                  <a:srgbClr val="839BB7"/>
                </a:solidFill>
              </a:defRPr>
            </a:pPr>
            <a: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C1628"/>
        </a:solidFill>
        <a:effectLst/>
      </p:bgPr>
    </p:bg>
    <p:spTree>
      <p:nvGrpSpPr>
        <p:cNvPr id="1" name=""/>
        <p:cNvGrpSpPr/>
        <p:nvPr/>
      </p:nvGrpSpPr>
      <p:grpSpPr/>
      <p:sp>
        <p:nvSpPr>
          <p:cNvPr id="2" name="TextBox 1"/>
          <p:cNvSpPr txBox="1"/>
          <p:nvPr/>
        </p:nvSpPr>
        <p:spPr>
          <a:xfrm>
            <a:off x="640080" y="438912"/>
            <a:ext cx="10881360" cy="640080"/>
          </a:xfrm>
          <a:prstGeom prst="rect">
            <a:avLst/>
          </a:prstGeom>
          <a:noFill/>
        </p:spPr>
        <p:txBody>
          <a:bodyPr wrap="square">
            <a:spAutoFit/>
          </a:bodyPr>
          <a:lstStyle/>
          <a:p>
            <a:pPr>
              <a:spcAft>
                <a:spcPts val="1300"/>
              </a:spcAft>
              <a:defRPr sz="3000" b="1">
                <a:solidFill>
                  <a:srgbClr val="F5F9FF"/>
                </a:solidFill>
              </a:defRPr>
            </a:pPr>
            <a:r>
              <a:t>Workflow, Job, Step và Action</a:t>
            </a:r>
          </a:p>
        </p:txBody>
      </p:sp>
      <p:sp>
        <p:nvSpPr>
          <p:cNvPr id="3" name="TextBox 2"/>
          <p:cNvSpPr txBox="1"/>
          <p:nvPr/>
        </p:nvSpPr>
        <p:spPr>
          <a:xfrm>
            <a:off x="777240" y="1645920"/>
            <a:ext cx="10607040" cy="4526280"/>
          </a:xfrm>
          <a:prstGeom prst="rect">
            <a:avLst/>
          </a:prstGeom>
          <a:noFill/>
        </p:spPr>
        <p:txBody>
          <a:bodyPr wrap="square">
            <a:spAutoFit/>
          </a:bodyPr>
          <a:lstStyle/>
          <a:p>
            <a:pPr>
              <a:spcAft>
                <a:spcPts val="1300"/>
              </a:spcAft>
              <a:defRPr sz="2100" b="0">
                <a:solidFill>
                  <a:srgbClr val="D6E4F3"/>
                </a:solidFill>
              </a:defRPr>
            </a:pPr>
            <a:r>
              <a:t>WORKFLOW: .github/workflows/ci.yml</a:t>
            </a:r>
          </a:p>
          <a:p>
            <a:pPr>
              <a:spcAft>
                <a:spcPts val="1300"/>
              </a:spcAft>
              <a:defRPr sz="2100" b="0">
                <a:solidFill>
                  <a:srgbClr val="D6E4F3"/>
                </a:solidFill>
              </a:defRPr>
            </a:pPr>
            <a:r>
              <a:t>TRIGGER: push / pull_request</a:t>
            </a:r>
          </a:p>
          <a:p>
            <a:pPr>
              <a:spcAft>
                <a:spcPts val="1300"/>
              </a:spcAft>
              <a:defRPr sz="2100" b="0">
                <a:solidFill>
                  <a:srgbClr val="D6E4F3"/>
                </a:solidFill>
              </a:defRPr>
            </a:pPr>
            <a:r>
              <a:t>JOB: chạy trên runner, ví dụ ubuntu-latest</a:t>
            </a:r>
          </a:p>
          <a:p>
            <a:pPr>
              <a:spcAft>
                <a:spcPts val="1300"/>
              </a:spcAft>
              <a:defRPr sz="2100" b="0">
                <a:solidFill>
                  <a:srgbClr val="D6E4F3"/>
                </a:solidFill>
              </a:defRPr>
            </a:pPr>
            <a:r>
              <a:t>STEP: từng thao tác trong job</a:t>
            </a:r>
          </a:p>
          <a:p>
            <a:pPr>
              <a:spcAft>
                <a:spcPts val="1300"/>
              </a:spcAft>
              <a:defRPr sz="2100" b="0">
                <a:solidFill>
                  <a:srgbClr val="D6E4F3"/>
                </a:solidFill>
              </a:defRPr>
            </a:pPr>
            <a:r>
              <a:t>uses: gọi action có sẵn  |  run: chạy lệnh shell</a:t>
            </a:r>
          </a:p>
          <a:p>
            <a:pPr>
              <a:spcAft>
                <a:spcPts val="1300"/>
              </a:spcAft>
              <a:defRPr sz="2100" b="0">
                <a:solidFill>
                  <a:srgbClr val="D6E4F3"/>
                </a:solidFill>
              </a:defRPr>
            </a:pPr>
            <a:r>
              <a:t>with: truyền tham số cho action.</a:t>
            </a:r>
          </a:p>
        </p:txBody>
      </p:sp>
      <p:sp>
        <p:nvSpPr>
          <p:cNvPr id="4" name="TextBox 3"/>
          <p:cNvSpPr txBox="1"/>
          <p:nvPr/>
        </p:nvSpPr>
        <p:spPr>
          <a:xfrm>
            <a:off x="731520" y="6419088"/>
            <a:ext cx="9144000" cy="274320"/>
          </a:xfrm>
          <a:prstGeom prst="rect">
            <a:avLst/>
          </a:prstGeom>
          <a:noFill/>
        </p:spPr>
        <p:txBody>
          <a:bodyPr wrap="square">
            <a:spAutoFit/>
          </a:bodyPr>
          <a:lstStyle/>
          <a:p>
            <a:pPr>
              <a:spcAft>
                <a:spcPts val="1300"/>
              </a:spcAft>
              <a:defRPr sz="1000" b="0">
                <a:solidFill>
                  <a:srgbClr val="839BB7"/>
                </a:solidFill>
              </a:defRPr>
            </a:pPr>
            <a:r>
              <a:t>CI/CD CƠ BẢN  •  NODE.JS + GITHUB ACTIONS</a:t>
            </a:r>
          </a:p>
        </p:txBody>
      </p:sp>
      <p:sp>
        <p:nvSpPr>
          <p:cNvPr id="5" name="TextBox 4"/>
          <p:cNvSpPr txBox="1"/>
          <p:nvPr/>
        </p:nvSpPr>
        <p:spPr>
          <a:xfrm>
            <a:off x="11064240" y="6419088"/>
            <a:ext cx="457200" cy="274320"/>
          </a:xfrm>
          <a:prstGeom prst="rect">
            <a:avLst/>
          </a:prstGeom>
          <a:noFill/>
        </p:spPr>
        <p:txBody>
          <a:bodyPr wrap="square">
            <a:spAutoFit/>
          </a:bodyPr>
          <a:lstStyle/>
          <a:p>
            <a:pPr>
              <a:spcAft>
                <a:spcPts val="1300"/>
              </a:spcAft>
              <a:defRPr sz="1000" b="0">
                <a:solidFill>
                  <a:srgbClr val="839BB7"/>
                </a:solidFill>
              </a:defRPr>
            </a:pPr>
            <a: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C1628"/>
        </a:solidFill>
        <a:effectLst/>
      </p:bgPr>
    </p:bg>
    <p:spTree>
      <p:nvGrpSpPr>
        <p:cNvPr id="1" name=""/>
        <p:cNvGrpSpPr/>
        <p:nvPr/>
      </p:nvGrpSpPr>
      <p:grpSpPr/>
      <p:sp>
        <p:nvSpPr>
          <p:cNvPr id="2" name="TextBox 1"/>
          <p:cNvSpPr txBox="1"/>
          <p:nvPr/>
        </p:nvSpPr>
        <p:spPr>
          <a:xfrm>
            <a:off x="640080" y="438912"/>
            <a:ext cx="10881360" cy="640080"/>
          </a:xfrm>
          <a:prstGeom prst="rect">
            <a:avLst/>
          </a:prstGeom>
          <a:noFill/>
        </p:spPr>
        <p:txBody>
          <a:bodyPr wrap="square">
            <a:spAutoFit/>
          </a:bodyPr>
          <a:lstStyle/>
          <a:p>
            <a:pPr>
              <a:spcAft>
                <a:spcPts val="1300"/>
              </a:spcAft>
              <a:defRPr sz="3000" b="1">
                <a:solidFill>
                  <a:srgbClr val="F5F9FF"/>
                </a:solidFill>
              </a:defRPr>
            </a:pPr>
            <a:r>
              <a:t>Ngoài Test, CI còn kiểm tra gì?</a:t>
            </a:r>
          </a:p>
        </p:txBody>
      </p:sp>
      <p:sp>
        <p:nvSpPr>
          <p:cNvPr id="3" name="TextBox 2"/>
          <p:cNvSpPr txBox="1"/>
          <p:nvPr/>
        </p:nvSpPr>
        <p:spPr>
          <a:xfrm>
            <a:off x="777240" y="1645920"/>
            <a:ext cx="10607040" cy="4526280"/>
          </a:xfrm>
          <a:prstGeom prst="rect">
            <a:avLst/>
          </a:prstGeom>
          <a:noFill/>
        </p:spPr>
        <p:txBody>
          <a:bodyPr wrap="square">
            <a:spAutoFit/>
          </a:bodyPr>
          <a:lstStyle/>
          <a:p>
            <a:pPr>
              <a:spcAft>
                <a:spcPts val="1300"/>
              </a:spcAft>
              <a:defRPr sz="2100" b="0">
                <a:solidFill>
                  <a:srgbClr val="D6E4F3"/>
                </a:solidFill>
              </a:defRPr>
            </a:pPr>
            <a:r>
              <a:t>LINT – ESLint: quy tắc và lỗi tiềm ẩn trong code</a:t>
            </a:r>
          </a:p>
          <a:p>
            <a:pPr>
              <a:spcAft>
                <a:spcPts val="1300"/>
              </a:spcAft>
              <a:defRPr sz="2100" b="0">
                <a:solidFill>
                  <a:srgbClr val="D6E4F3"/>
                </a:solidFill>
              </a:defRPr>
            </a:pPr>
            <a:r>
              <a:t>FORMAT – Prettier: kiểm tra định dạng thống nhất</a:t>
            </a:r>
          </a:p>
          <a:p>
            <a:pPr>
              <a:spcAft>
                <a:spcPts val="1300"/>
              </a:spcAft>
              <a:defRPr sz="2100" b="0">
                <a:solidFill>
                  <a:srgbClr val="D6E4F3"/>
                </a:solidFill>
              </a:defRPr>
            </a:pPr>
            <a:r>
              <a:t>TYPE CHECK – tsc --noEmit: kiểm tra kiểu TypeScript</a:t>
            </a:r>
          </a:p>
          <a:p>
            <a:pPr>
              <a:spcAft>
                <a:spcPts val="1300"/>
              </a:spcAft>
              <a:defRPr sz="2100" b="0">
                <a:solidFill>
                  <a:srgbClr val="D6E4F3"/>
                </a:solidFill>
              </a:defRPr>
            </a:pPr>
            <a:r>
              <a:t>UNIT TEST – Jest: kiểm tra logic nghiệp vụ</a:t>
            </a:r>
          </a:p>
          <a:p>
            <a:pPr>
              <a:spcAft>
                <a:spcPts val="1300"/>
              </a:spcAft>
              <a:defRPr sz="2100" b="0">
                <a:solidFill>
                  <a:srgbClr val="D6E4F3"/>
                </a:solidFill>
              </a:defRPr>
            </a:pPr>
            <a:r>
              <a:t>BUILD – npm run build: xác minh khả năng đóng gói</a:t>
            </a:r>
          </a:p>
          <a:p>
            <a:pPr>
              <a:spcAft>
                <a:spcPts val="1300"/>
              </a:spcAft>
              <a:defRPr sz="2100" b="0">
                <a:solidFill>
                  <a:srgbClr val="D6E4F3"/>
                </a:solidFill>
              </a:defRPr>
            </a:pPr>
            <a:r>
              <a:t>SECURITY – npm audit: cảnh báo lỗ hổng dependency.</a:t>
            </a:r>
          </a:p>
        </p:txBody>
      </p:sp>
      <p:sp>
        <p:nvSpPr>
          <p:cNvPr id="4" name="TextBox 3"/>
          <p:cNvSpPr txBox="1"/>
          <p:nvPr/>
        </p:nvSpPr>
        <p:spPr>
          <a:xfrm>
            <a:off x="731520" y="6419088"/>
            <a:ext cx="9144000" cy="274320"/>
          </a:xfrm>
          <a:prstGeom prst="rect">
            <a:avLst/>
          </a:prstGeom>
          <a:noFill/>
        </p:spPr>
        <p:txBody>
          <a:bodyPr wrap="square">
            <a:spAutoFit/>
          </a:bodyPr>
          <a:lstStyle/>
          <a:p>
            <a:pPr>
              <a:spcAft>
                <a:spcPts val="1300"/>
              </a:spcAft>
              <a:defRPr sz="1000" b="0">
                <a:solidFill>
                  <a:srgbClr val="839BB7"/>
                </a:solidFill>
              </a:defRPr>
            </a:pPr>
            <a:r>
              <a:t>CI/CD CƠ BẢN  •  NODE.JS + GITHUB ACTIONS</a:t>
            </a:r>
          </a:p>
        </p:txBody>
      </p:sp>
      <p:sp>
        <p:nvSpPr>
          <p:cNvPr id="5" name="TextBox 4"/>
          <p:cNvSpPr txBox="1"/>
          <p:nvPr/>
        </p:nvSpPr>
        <p:spPr>
          <a:xfrm>
            <a:off x="11064240" y="6419088"/>
            <a:ext cx="457200" cy="274320"/>
          </a:xfrm>
          <a:prstGeom prst="rect">
            <a:avLst/>
          </a:prstGeom>
          <a:noFill/>
        </p:spPr>
        <p:txBody>
          <a:bodyPr wrap="square">
            <a:spAutoFit/>
          </a:bodyPr>
          <a:lstStyle/>
          <a:p>
            <a:pPr>
              <a:spcAft>
                <a:spcPts val="1300"/>
              </a:spcAft>
              <a:defRPr sz="1000" b="0">
                <a:solidFill>
                  <a:srgbClr val="839BB7"/>
                </a:solidFill>
              </a:defRPr>
            </a:pPr>
            <a: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C1628"/>
        </a:solidFill>
        <a:effectLst/>
      </p:bgPr>
    </p:bg>
    <p:spTree>
      <p:nvGrpSpPr>
        <p:cNvPr id="1" name=""/>
        <p:cNvGrpSpPr/>
        <p:nvPr/>
      </p:nvGrpSpPr>
      <p:grpSpPr/>
      <p:sp>
        <p:nvSpPr>
          <p:cNvPr id="2" name="TextBox 1"/>
          <p:cNvSpPr txBox="1"/>
          <p:nvPr/>
        </p:nvSpPr>
        <p:spPr>
          <a:xfrm>
            <a:off x="640080" y="438912"/>
            <a:ext cx="10881360" cy="640080"/>
          </a:xfrm>
          <a:prstGeom prst="rect">
            <a:avLst/>
          </a:prstGeom>
          <a:noFill/>
        </p:spPr>
        <p:txBody>
          <a:bodyPr wrap="square">
            <a:spAutoFit/>
          </a:bodyPr>
          <a:lstStyle/>
          <a:p>
            <a:pPr>
              <a:spcAft>
                <a:spcPts val="1300"/>
              </a:spcAft>
              <a:defRPr sz="3000" b="1">
                <a:solidFill>
                  <a:srgbClr val="F5F9FF"/>
                </a:solidFill>
              </a:defRPr>
            </a:pPr>
            <a:r>
              <a:t>Ví dụ CI: Lint → Test → Build</a:t>
            </a:r>
          </a:p>
        </p:txBody>
      </p:sp>
      <p:sp>
        <p:nvSpPr>
          <p:cNvPr id="3" name="TextBox 2"/>
          <p:cNvSpPr txBox="1"/>
          <p:nvPr/>
        </p:nvSpPr>
        <p:spPr>
          <a:xfrm>
            <a:off x="777240" y="1645920"/>
            <a:ext cx="10607040" cy="4526280"/>
          </a:xfrm>
          <a:prstGeom prst="rect">
            <a:avLst/>
          </a:prstGeom>
          <a:noFill/>
        </p:spPr>
        <p:txBody>
          <a:bodyPr wrap="square">
            <a:spAutoFit/>
          </a:bodyPr>
          <a:lstStyle/>
          <a:p>
            <a:pPr>
              <a:spcAft>
                <a:spcPts val="1300"/>
              </a:spcAft>
              <a:defRPr sz="2100" b="0">
                <a:solidFill>
                  <a:srgbClr val="D6E4F3"/>
                </a:solidFill>
              </a:defRPr>
            </a:pPr>
            <a:r>
              <a:t>npm ci</a:t>
            </a:r>
          </a:p>
          <a:p>
            <a:pPr>
              <a:spcAft>
                <a:spcPts val="1300"/>
              </a:spcAft>
              <a:defRPr sz="2100" b="0">
                <a:solidFill>
                  <a:srgbClr val="D6E4F3"/>
                </a:solidFill>
              </a:defRPr>
            </a:pPr>
            <a:r>
              <a:t>npm run lint       # ESLint</a:t>
            </a:r>
          </a:p>
          <a:p>
            <a:pPr>
              <a:spcAft>
                <a:spcPts val="1300"/>
              </a:spcAft>
              <a:defRPr sz="2100" b="0">
                <a:solidFill>
                  <a:srgbClr val="D6E4F3"/>
                </a:solidFill>
              </a:defRPr>
            </a:pPr>
            <a:r>
              <a:t>npm run format:check # Prettier</a:t>
            </a:r>
          </a:p>
          <a:p>
            <a:pPr>
              <a:spcAft>
                <a:spcPts val="1300"/>
              </a:spcAft>
              <a:defRPr sz="2100" b="0">
                <a:solidFill>
                  <a:srgbClr val="D6E4F3"/>
                </a:solidFill>
              </a:defRPr>
            </a:pPr>
            <a:r>
              <a:t>npm run typecheck  # TypeScript, nếu dùng TS</a:t>
            </a:r>
          </a:p>
          <a:p>
            <a:pPr>
              <a:spcAft>
                <a:spcPts val="1300"/>
              </a:spcAft>
              <a:defRPr sz="2100" b="0">
                <a:solidFill>
                  <a:srgbClr val="D6E4F3"/>
                </a:solidFill>
              </a:defRPr>
            </a:pPr>
            <a:r>
              <a:t>npm test           # Jest</a:t>
            </a:r>
          </a:p>
          <a:p>
            <a:pPr>
              <a:spcAft>
                <a:spcPts val="1300"/>
              </a:spcAft>
              <a:defRPr sz="2100" b="0">
                <a:solidFill>
                  <a:srgbClr val="D6E4F3"/>
                </a:solidFill>
              </a:defRPr>
            </a:pPr>
            <a:r>
              <a:t>npm run build      # Build</a:t>
            </a:r>
          </a:p>
          <a:p>
            <a:pPr>
              <a:spcAft>
                <a:spcPts val="1300"/>
              </a:spcAft>
              <a:defRPr sz="2100" b="0">
                <a:solidFill>
                  <a:srgbClr val="D6E4F3"/>
                </a:solidFill>
              </a:defRPr>
            </a:pPr>
          </a:p>
          <a:p>
            <a:pPr>
              <a:spcAft>
                <a:spcPts val="1300"/>
              </a:spcAft>
              <a:defRPr sz="2100" b="0">
                <a:solidFill>
                  <a:srgbClr val="D6E4F3"/>
                </a:solidFill>
              </a:defRPr>
            </a:pPr>
            <a:r>
              <a:t>Bất kỳ bước nào FAIL → không tiếp tục bước sau.</a:t>
            </a:r>
          </a:p>
        </p:txBody>
      </p:sp>
      <p:sp>
        <p:nvSpPr>
          <p:cNvPr id="4" name="TextBox 3"/>
          <p:cNvSpPr txBox="1"/>
          <p:nvPr/>
        </p:nvSpPr>
        <p:spPr>
          <a:xfrm>
            <a:off x="731520" y="6419088"/>
            <a:ext cx="9144000" cy="274320"/>
          </a:xfrm>
          <a:prstGeom prst="rect">
            <a:avLst/>
          </a:prstGeom>
          <a:noFill/>
        </p:spPr>
        <p:txBody>
          <a:bodyPr wrap="square">
            <a:spAutoFit/>
          </a:bodyPr>
          <a:lstStyle/>
          <a:p>
            <a:pPr>
              <a:spcAft>
                <a:spcPts val="1300"/>
              </a:spcAft>
              <a:defRPr sz="1000" b="0">
                <a:solidFill>
                  <a:srgbClr val="839BB7"/>
                </a:solidFill>
              </a:defRPr>
            </a:pPr>
            <a:r>
              <a:t>CI/CD CƠ BẢN  •  NODE.JS + GITHUB ACTIONS</a:t>
            </a:r>
          </a:p>
        </p:txBody>
      </p:sp>
      <p:sp>
        <p:nvSpPr>
          <p:cNvPr id="5" name="TextBox 4"/>
          <p:cNvSpPr txBox="1"/>
          <p:nvPr/>
        </p:nvSpPr>
        <p:spPr>
          <a:xfrm>
            <a:off x="11064240" y="6419088"/>
            <a:ext cx="457200" cy="274320"/>
          </a:xfrm>
          <a:prstGeom prst="rect">
            <a:avLst/>
          </a:prstGeom>
          <a:noFill/>
        </p:spPr>
        <p:txBody>
          <a:bodyPr wrap="square">
            <a:spAutoFit/>
          </a:bodyPr>
          <a:lstStyle/>
          <a:p>
            <a:pPr>
              <a:spcAft>
                <a:spcPts val="1300"/>
              </a:spcAft>
              <a:defRPr sz="1000" b="0">
                <a:solidFill>
                  <a:srgbClr val="839BB7"/>
                </a:solidFill>
              </a:defRPr>
            </a:pPr>
            <a:r>
              <a:t>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